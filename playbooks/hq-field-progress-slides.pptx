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Remember: one ask. Feel: HK is in control and compliant. Do: approve concentration on initiation, not more calls. Strip names before send.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Lock RAG definitions with GM once. Green is not optimism. Missing definition =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patterns maximum. ET/MF questions stay off this slide except as 'reactive-only, logged.'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widths are illustrative. Do not invent patient or account counts. HA formulary line belongs in RAG, not as a fourth vanity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Always: PSP Base Case vs Private Sector (end-2026), HA formulary impact line, PV-only lexicon, sensitivity Mid unless raw notes are attached (then High — do not attach).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E2744"/>
                </a:solidFill>
                <a:latin typeface="Calibri"/>
                <a:ea typeface="Calibri"/>
              </a:rPr>
              <a:t>BESREMi · HK PV · PM field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"/>
            <a:ext cx="5029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Biweekly · [dates] · Mid · Internal · De-identified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438912"/>
            <a:ext cx="6035040" cy="292608"/>
          </a:xfrm>
          <a:prstGeom prst="roundRect">
            <a:avLst/>
          </a:prstGeom>
          <a:solidFill>
            <a:srgbClr val="F8EE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6B4E00"/>
                </a:solidFill>
                <a:latin typeface="Calibri"/>
                <a:ea typeface="Calibri"/>
              </a:rPr>
              <a:t>SAMPLE — replace before sending to HQ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04672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B7A6E"/>
                </a:solidFill>
                <a:latin typeface="Calibri"/>
                <a:ea typeface="Calibri"/>
              </a:rPr>
              <a:t>THE ASK · FIRST 30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11365992" cy="1554480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B8860B"/>
                </a:solidFill>
                <a:latin typeface="Calibri"/>
                <a:ea typeface="Calibri"/>
              </a:rPr>
              <a:t>HQ SHOULD DO THIS</a:t>
            </a:r>
          </a:p>
          <a:p>
            <a:pPr>
              <a:spcAft>
                <a:spcPts val="400"/>
              </a:spcAft>
            </a:pPr>
            <a:r>
              <a:rPr sz="2200" b="1" i="0">
                <a:solidFill>
                  <a:srgbClr val="FFFCF7"/>
                </a:solidFill>
                <a:latin typeface="Calibri"/>
                <a:ea typeface="Calibri"/>
              </a:rPr>
              <a:t>Concentrate the next two weeks on initiation barriers in priority private accounts. Do not treat call volume as the progress metric.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16352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WHY NOW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1C2A3A"/>
                </a:solidFill>
                <a:latin typeface="Calibri"/>
                <a:ea typeface="Calibri"/>
              </a:rPr>
              <a:t>Private-sector PSP expiry (end-2026) is already changing close conversations. Formulary packaging needs field themes, not visit counts, while the evidence window is still open.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816352"/>
            <a:ext cx="5532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RECOMMENDATION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1C2A3A"/>
                </a:solidFill>
                <a:latin typeface="Calibri"/>
                <a:ea typeface="Calibri"/>
              </a:rPr>
              <a:t>Do: report 3 conversion signals mapped to uptake / formulary / compliance. Do not: send trip logs, named HCPs, or CRM dumps.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93776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" y="4992624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5B6B7C"/>
                </a:solidFill>
                <a:latin typeface="Calibri"/>
                <a:ea typeface="Calibri"/>
              </a:rPr>
              <a:t>FORMULARY THIS CYCLE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2744"/>
                </a:solidFill>
                <a:latin typeface="Calibri"/>
                <a:ea typeface="Calibri"/>
              </a:rPr>
              <a:t>No change to dossier — themes usable, no new unlock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93776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992624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5B6B7C"/>
                </a:solidFill>
                <a:latin typeface="Calibri"/>
                <a:ea typeface="Calibri"/>
              </a:rPr>
              <a:t>PSP IN PLAY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2744"/>
                </a:solidFill>
                <a:latin typeface="Calibri"/>
                <a:ea typeface="Calibri"/>
              </a:rPr>
              <a:t>Base Case + Private Sector (expires end-2026)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493776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21624" y="4992624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5B6B7C"/>
                </a:solidFill>
                <a:latin typeface="Calibri"/>
                <a:ea typeface="Calibri"/>
              </a:rPr>
              <a:t>COMPLIANCE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E2744"/>
                </a:solidFill>
                <a:latin typeface="Calibri"/>
                <a:ea typeface="Calibri"/>
              </a:rPr>
              <a:t>Green · PV-only lexicon · ET/MF reactive-only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10819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DECISION NEEDED BY:  [YYYY-MM-DD]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610819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OWNER:  PM, with GM for HQ send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610819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GOES INTO:  Standing biweekly HQ update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B6B7C"/>
                </a:solidFill>
                <a:latin typeface="Calibri"/>
                <a:ea typeface="Calibri"/>
              </a:rPr>
              <a:t>Patterns only · no named HCPs, patient stories, unpublished dossier data  · 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E2744"/>
                </a:solidFill>
                <a:latin typeface="Calibri"/>
                <a:ea typeface="Calibri"/>
              </a:rPr>
              <a:t>BESREMi · HK PV · PM field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"/>
            <a:ext cx="5029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Biweekly · [dates] · Mid · Internal · De-identified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38912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B7A6E"/>
                </a:solidFill>
                <a:latin typeface="Calibri"/>
                <a:ea typeface="Calibri"/>
              </a:rPr>
              <a:t>FIVE-SECOND SCORECARD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0E2744"/>
                </a:solidFill>
                <a:latin typeface="Calibri"/>
                <a:ea typeface="Calibri"/>
              </a:rPr>
              <a:t>Initiation, not awareness, is the stall.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3520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UPTAKE VS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572768"/>
            <a:ext cx="1051560" cy="292608"/>
          </a:xfrm>
          <a:prstGeom prst="roundRect">
            <a:avLst/>
          </a:prstGeom>
          <a:solidFill>
            <a:srgbClr val="F8E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B86E13"/>
                </a:solidFill>
                <a:latin typeface="Calibri"/>
                <a:ea typeface="Calibri"/>
              </a:rPr>
              <a:t>AMBER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3154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0E2744"/>
                </a:solidFill>
                <a:latin typeface="Calibri"/>
                <a:ea typeface="Calibri"/>
              </a:rPr>
              <a:t>Awareness holds; initiation is slow.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B6B7C"/>
                </a:solidFill>
                <a:latin typeface="Calibri"/>
                <a:ea typeface="Calibri"/>
              </a:rPr>
              <a:t>Definition: private uptake vs agreed HQ plan — not vs last week’s call count.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C2A3A"/>
                </a:solidFill>
                <a:latin typeface="Calibri"/>
                <a:ea typeface="Calibri"/>
              </a:rPr>
              <a:t>Vs last cycle: unchanged conversion quality.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520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FORMULARY TRAJECTORY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572768"/>
            <a:ext cx="1051560" cy="292608"/>
          </a:xfrm>
          <a:prstGeom prst="roundRect">
            <a:avLst/>
          </a:prstGeom>
          <a:solidFill>
            <a:srgbClr val="F8ED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B86E13"/>
                </a:solidFill>
                <a:latin typeface="Calibri"/>
                <a:ea typeface="Calibri"/>
              </a:rPr>
              <a:t>AMBER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11680"/>
            <a:ext cx="3154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0E2744"/>
                </a:solidFill>
                <a:latin typeface="Calibri"/>
                <a:ea typeface="Calibri"/>
              </a:rPr>
              <a:t>Field themes are usable; dossier not advanced this cycle.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B6B7C"/>
                </a:solidFill>
                <a:latin typeface="Calibri"/>
                <a:ea typeface="Calibri"/>
              </a:rPr>
              <a:t>Definition: whether this cycle strengthened, delayed, or did not change HADF packaging.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C2A3A"/>
                </a:solidFill>
                <a:latin typeface="Calibri"/>
                <a:ea typeface="Calibri"/>
              </a:rPr>
              <a:t>Vs last cycle: no new evidence gap; no new unlock.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417320"/>
            <a:ext cx="3520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554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COMPLIANCE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1572768"/>
            <a:ext cx="1051560" cy="292608"/>
          </a:xfrm>
          <a:prstGeom prst="roundRect">
            <a:avLst/>
          </a:prstGeom>
          <a:solidFill>
            <a:srgbClr val="E3F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1F7A4D"/>
                </a:solidFill>
                <a:latin typeface="Calibri"/>
                <a:ea typeface="Calibri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1546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0E2744"/>
                </a:solidFill>
                <a:latin typeface="Calibri"/>
                <a:ea typeface="Calibri"/>
              </a:rPr>
              <a:t>No uncleared claims. ET/MF stayed reactive-only.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5B6B7C"/>
                </a:solidFill>
                <a:latin typeface="Calibri"/>
                <a:ea typeface="Calibri"/>
              </a:rPr>
              <a:t>Definition: materials cleared; no open UMAO/HKAPI issues; lexicon intact.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C2A3A"/>
                </a:solidFill>
                <a:latin typeface="Calibri"/>
                <a:ea typeface="Calibri"/>
              </a:rPr>
              <a:t>Vs last cycle: clean. Keep raw notes in the vault.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B6B7C"/>
                </a:solidFill>
                <a:latin typeface="Calibri"/>
                <a:ea typeface="Calibri"/>
              </a:rPr>
              <a:t>Patterns only · no named HCPs, patient stories, unpublished dossier data  ·  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E2744"/>
                </a:solidFill>
                <a:latin typeface="Calibri"/>
                <a:ea typeface="Calibri"/>
              </a:rPr>
              <a:t>BESREMi · HK PV · PM field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"/>
            <a:ext cx="5029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Biweekly · [dates] · Mid · Internal · De-identified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38912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B7A6E"/>
                </a:solidFill>
                <a:latin typeface="Calibri"/>
                <a:ea typeface="Calibri"/>
              </a:rPr>
              <a:t>FIELD SIGNALS · MAX THREE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0E2744"/>
                </a:solidFill>
                <a:latin typeface="Calibri"/>
                <a:ea typeface="Calibri"/>
              </a:rPr>
              <a:t>What repeated in the field — not who we visited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3520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0E2744"/>
                </a:solidFill>
                <a:latin typeface="Calibri"/>
                <a:ea typeface="Calibri"/>
              </a:rPr>
              <a:t>Affordability is understood; initiation is not.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Observed: Priority private accounts can repeat PSP logic, then still do not start.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So what: Uptake risk sits after the affordability pitch, not before it.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B7A6E"/>
                </a:solidFill>
                <a:latin typeface="Calibri"/>
                <a:ea typeface="Calibri"/>
              </a:rPr>
              <a:t>Implication: Next cycle = onboarding friction, not more awareness meetings.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520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0E2744"/>
                </a:solidFill>
                <a:latin typeface="Calibri"/>
                <a:ea typeface="Calibri"/>
              </a:rPr>
              <a:t>Price vs traditional IFN is the #1 close-blocker.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Observed: Same objection across accounts: why pay a premium vs off-label IFN.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So what: Stay inside approved PV evidence and dosing convenience.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B7A6E"/>
                </a:solidFill>
                <a:latin typeface="Calibri"/>
                <a:ea typeface="Calibri"/>
              </a:rPr>
              <a:t>Implication: No IFN-to-IFN superiority claim. Standing lexicon response only.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417320"/>
            <a:ext cx="3520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0E2744"/>
                </a:solidFill>
                <a:latin typeface="Calibri"/>
                <a:ea typeface="Calibri"/>
              </a:rPr>
              <a:t>Two PSP paths are creating two close motions.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Observed: Base Case vs Private Sector (expires end-2026) used as different close paths.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So what: Expiry is a sequencing issue for HQ, not a slogan.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B7A6E"/>
                </a:solidFill>
                <a:latin typeface="Calibri"/>
                <a:ea typeface="Calibri"/>
              </a:rPr>
              <a:t>Implication: Do not informal-tweak terms. Confirm eligibility before quoting.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B6B7C"/>
                </a:solidFill>
                <a:latin typeface="Calibri"/>
                <a:ea typeface="Calibri"/>
              </a:rPr>
              <a:t>Patterns only · no named HCPs, patient stories, unpublished dossier data  ·  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E2744"/>
                </a:solidFill>
                <a:latin typeface="Calibri"/>
                <a:ea typeface="Calibri"/>
              </a:rPr>
              <a:t>BESREMi · HK PV · PM field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"/>
            <a:ext cx="5029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Biweekly · [dates] · Mid · Internal · De-identified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38912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B7A6E"/>
                </a:solidFill>
                <a:latin typeface="Calibri"/>
                <a:ea typeface="Calibri"/>
              </a:rPr>
              <a:t>CONVERSION, NOT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0E2744"/>
                </a:solidFill>
                <a:latin typeface="Calibri"/>
                <a:ea typeface="Calibri"/>
              </a:rPr>
              <a:t>Where field time dies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53949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361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ACCOUNT MOTION (QUALITATIVE)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4663440" cy="658368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CF7"/>
                </a:solidFill>
                <a:latin typeface="Calibri"/>
                <a:ea typeface="Calibri"/>
              </a:rPr>
              <a:t>Awareness · holding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2788920"/>
            <a:ext cx="3931920" cy="658368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CF7"/>
                </a:solidFill>
                <a:latin typeface="Calibri"/>
                <a:ea typeface="Calibri"/>
              </a:rPr>
              <a:t>Intent · holding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611880"/>
            <a:ext cx="3200400" cy="658368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CF7"/>
                </a:solidFill>
                <a:latin typeface="Calibri"/>
                <a:ea typeface="Calibri"/>
              </a:rPr>
              <a:t>Initiation · STALL — mark this 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434840"/>
            <a:ext cx="2560320" cy="658368"/>
          </a:xfrm>
          <a:prstGeom prst="roundRect">
            <a:avLst/>
          </a:prstGeom>
          <a:solidFill>
            <a:srgbClr val="0E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FFFCF7"/>
                </a:solidFill>
                <a:latin typeface="Calibri"/>
                <a:ea typeface="Calibri"/>
              </a:rPr>
              <a:t>Persistency · too early to claim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5650992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5544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RANKED BARRIERS (MAX 4)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C2A3A"/>
                </a:solidFill>
                <a:latin typeface="Calibri"/>
                <a:ea typeface="Calibri"/>
              </a:rPr>
              <a:t>1  Initiation / onboarding after PSP explanation  → Uptake  · New as the pattern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C2A3A"/>
                </a:solidFill>
                <a:latin typeface="Calibri"/>
                <a:ea typeface="Calibri"/>
              </a:rPr>
              <a:t>2  Price vs traditional IFN — lexicon-bound answer only  → Uptake + compliance  · Unchanged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C2A3A"/>
                </a:solidFill>
                <a:latin typeface="Calibri"/>
                <a:ea typeface="Calibri"/>
              </a:rPr>
              <a:t>3  Private Sector PSP clock changing urgency unevenly  → Access / PSP  · Rising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B6B7C"/>
                </a:solidFill>
                <a:latin typeface="Calibri"/>
                <a:ea typeface="Calibri"/>
              </a:rPr>
              <a:t>4  [Fourth barrier or delete row]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0E2744"/>
                </a:solidFill>
                <a:latin typeface="Calibri"/>
                <a:ea typeface="Calibri"/>
              </a:rPr>
              <a:t>Moved this cycle: Stopped spreading coverage. Next two weeks: initiation checklist on the priority-account list (titles only; no HCP names on this slide).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B6B7C"/>
                </a:solidFill>
                <a:latin typeface="Calibri"/>
                <a:ea typeface="Calibri"/>
              </a:rPr>
              <a:t>Patterns only · no named HCPs, patient stories, unpublished dossier data  ·  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E2744"/>
                </a:solidFill>
                <a:latin typeface="Calibri"/>
                <a:ea typeface="Calibri"/>
              </a:rPr>
              <a:t>BESREMi · HK PV · PM field pack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0" y="146304"/>
            <a:ext cx="5029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Biweekly · [dates] · Mid · Internal · De-identified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38912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1B7A6E"/>
                </a:solidFill>
                <a:latin typeface="Calibri"/>
                <a:ea typeface="Calibri"/>
              </a:rPr>
              <a:t>DECISION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8368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i="0">
                <a:solidFill>
                  <a:srgbClr val="0E2744"/>
                </a:solidFill>
                <a:latin typeface="Calibri"/>
                <a:ea typeface="Calibri"/>
              </a:rPr>
              <a:t>Options, risks, and the HQ 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53312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" y="141732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1B7A6E"/>
                </a:solidFill>
                <a:latin typeface="Calibri"/>
                <a:ea typeface="Calibri"/>
              </a:rPr>
              <a:t>NOT RECOMMENDED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0E2744"/>
                </a:solidFill>
                <a:latin typeface="Calibri"/>
                <a:ea typeface="Calibri"/>
              </a:rPr>
              <a:t>A. Keep activity reports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C2A3A"/>
                </a:solidFill>
                <a:latin typeface="Calibri"/>
                <a:ea typeface="Calibri"/>
              </a:rPr>
              <a:t>Visit counts and trip notes. Easy to write; HQ cannot see the thesis.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53312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E4F3E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141732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1B7A6E"/>
                </a:solidFill>
                <a:latin typeface="Calibri"/>
                <a:ea typeface="Calibri"/>
              </a:rPr>
              <a:t>RECOMMENDED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0E2744"/>
                </a:solidFill>
                <a:latin typeface="Calibri"/>
                <a:ea typeface="Calibri"/>
              </a:rPr>
              <a:t>B. Signal → implication → ask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C2A3A"/>
                </a:solidFill>
                <a:latin typeface="Calibri"/>
                <a:ea typeface="Calibri"/>
              </a:rPr>
              <a:t>This pack. Three patterns, RAG vs plan, one decision date.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353312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1624" y="1417320"/>
            <a:ext cx="3246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 i="0">
                <a:solidFill>
                  <a:srgbClr val="1B7A6E"/>
                </a:solidFill>
                <a:latin typeface="Calibri"/>
                <a:ea typeface="Calibri"/>
              </a:rPr>
              <a:t>NOT RECOMMENDED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0E2744"/>
                </a:solidFill>
                <a:latin typeface="Calibri"/>
                <a:ea typeface="Calibri"/>
              </a:rPr>
              <a:t>C. CRM dump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C2A3A"/>
                </a:solidFill>
                <a:latin typeface="Calibri"/>
                <a:ea typeface="Calibri"/>
              </a:rPr>
              <a:t>Looks rigorous, usually unreadable, often too sensitive to forward.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56432"/>
            <a:ext cx="5532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" y="3529584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PRE-MORTEM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If this fails: someone still scores the team on call volume, so activity theatre returns.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456432"/>
            <a:ext cx="5532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529584"/>
            <a:ext cx="5257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SHAREABLE-PACK RISK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C2A3A"/>
                </a:solidFill>
                <a:latin typeface="Calibri"/>
                <a:ea typeface="Calibri"/>
              </a:rPr>
              <a:t>A named KOL or patient-adjacent story leaks into a forwardable deck.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800600"/>
            <a:ext cx="11365992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" y="4864608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5B6B7C"/>
                </a:solidFill>
                <a:latin typeface="Calibri"/>
                <a:ea typeface="Calibri"/>
              </a:rPr>
              <a:t>NEXT ACTIONS  ·  role + date, not names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C2A3A"/>
                </a:solidFill>
                <a:latin typeface="Calibri"/>
                <a:ea typeface="Calibri"/>
              </a:rPr>
              <a:t>1  Rewrite last trip report into this 5-slide pack; strip names  ·  PM  ·  This week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C2A3A"/>
                </a:solidFill>
                <a:latin typeface="Calibri"/>
                <a:ea typeface="Calibri"/>
              </a:rPr>
              <a:t>2  Lock RAG definitions with GM (uptake / formulary / compliance)  ·  PM + GM  ·  Next HQ cycle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1C2A3A"/>
                </a:solidFill>
                <a:latin typeface="Calibri"/>
                <a:ea typeface="Calibri"/>
              </a:rPr>
              <a:t>3  Compliance pass: no ET/MF promotion, no uncleared claims  ·  PM + Legal/Compliance  ·  Before send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B6B7C"/>
                </a:solidFill>
                <a:latin typeface="Calibri"/>
                <a:ea typeface="Calibri"/>
              </a:rPr>
              <a:t>Patterns only · no named HCPs, patient stories, unpublished dossier data  ·  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
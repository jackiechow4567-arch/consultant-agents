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dr_left"/>
          <p:cNvSpPr txBox="1"/>
          <p:nvPr/>
        </p:nvSpPr>
        <p:spPr>
          <a:xfrm>
            <a:off x="411480" y="128016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E2744"/>
                </a:solidFill>
                <a:latin typeface="Calibri"/>
              </a:rPr>
              <a:t>BESREMi | HK PV | PM field pack</a:t>
            </a:r>
          </a:p>
        </p:txBody>
      </p:sp>
      <p:sp>
        <p:nvSpPr>
          <p:cNvPr id="4" name="hdr_right"/>
          <p:cNvSpPr txBox="1"/>
          <p:nvPr/>
        </p:nvSpPr>
        <p:spPr>
          <a:xfrm>
            <a:off x="6583680" y="128016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Biweekly | [dates] | Mid | Internal | De-identified</a:t>
            </a:r>
          </a:p>
        </p:txBody>
      </p:sp>
      <p:sp>
        <p:nvSpPr>
          <p:cNvPr id="5" name="flag_bg"/>
          <p:cNvSpPr/>
          <p:nvPr/>
        </p:nvSpPr>
        <p:spPr>
          <a:xfrm>
            <a:off x="411480" y="384048"/>
            <a:ext cx="6583680" cy="310896"/>
          </a:xfrm>
          <a:prstGeom prst="roundRect">
            <a:avLst/>
          </a:prstGeom>
          <a:solidFill>
            <a:srgbClr val="F8E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lag"/>
          <p:cNvSpPr txBox="1"/>
          <p:nvPr/>
        </p:nvSpPr>
        <p:spPr>
          <a:xfrm>
            <a:off x="521208" y="420624"/>
            <a:ext cx="6309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6B4E00"/>
                </a:solidFill>
                <a:latin typeface="Calibri"/>
              </a:rPr>
              <a:t>SAMPLE - replace before sending to HQ</a:t>
            </a:r>
          </a:p>
        </p:txBody>
      </p:sp>
      <p:sp>
        <p:nvSpPr>
          <p:cNvPr id="7" name="kicker"/>
          <p:cNvSpPr txBox="1"/>
          <p:nvPr/>
        </p:nvSpPr>
        <p:spPr>
          <a:xfrm>
            <a:off x="411480" y="749808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B7A6E"/>
                </a:solidFill>
                <a:latin typeface="Calibri"/>
              </a:rPr>
              <a:t>THE ASK - FIRST 30 SECONDS</a:t>
            </a:r>
          </a:p>
        </p:txBody>
      </p:sp>
      <p:sp>
        <p:nvSpPr>
          <p:cNvPr id="8" name="ask_bg"/>
          <p:cNvSpPr/>
          <p:nvPr/>
        </p:nvSpPr>
        <p:spPr>
          <a:xfrm>
            <a:off x="411480" y="1024128"/>
            <a:ext cx="11365992" cy="1417320"/>
          </a:xfrm>
          <a:prstGeom prst="roundRect">
            <a:avLst/>
          </a:prstGeom>
          <a:solidFill>
            <a:srgbClr val="0E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sk_label"/>
          <p:cNvSpPr txBox="1"/>
          <p:nvPr/>
        </p:nvSpPr>
        <p:spPr>
          <a:xfrm>
            <a:off x="594360" y="1097280"/>
            <a:ext cx="10972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B8860B"/>
                </a:solidFill>
                <a:latin typeface="Calibri"/>
              </a:rPr>
              <a:t>HQ SHOULD DO THIS</a:t>
            </a:r>
          </a:p>
        </p:txBody>
      </p:sp>
      <p:sp>
        <p:nvSpPr>
          <p:cNvPr id="10" name="ask"/>
          <p:cNvSpPr txBox="1"/>
          <p:nvPr/>
        </p:nvSpPr>
        <p:spPr>
          <a:xfrm>
            <a:off x="594360" y="135331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2200" b="1">
                <a:solidFill>
                  <a:srgbClr val="FFFCF7"/>
                </a:solidFill>
                <a:latin typeface="Calibri"/>
              </a:rPr>
              <a:t>Concentrate the next two weeks on initiation barriers in priority private accounts. Do not treat call volume as the progress metric.</a:t>
            </a:r>
          </a:p>
        </p:txBody>
      </p:sp>
      <p:sp>
        <p:nvSpPr>
          <p:cNvPr id="11" name="why_bg"/>
          <p:cNvSpPr/>
          <p:nvPr/>
        </p:nvSpPr>
        <p:spPr>
          <a:xfrm>
            <a:off x="411480" y="2606040"/>
            <a:ext cx="553212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_bg"/>
          <p:cNvSpPr/>
          <p:nvPr/>
        </p:nvSpPr>
        <p:spPr>
          <a:xfrm>
            <a:off x="6245352" y="2606040"/>
            <a:ext cx="553212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why_now"/>
          <p:cNvSpPr txBox="1"/>
          <p:nvPr/>
        </p:nvSpPr>
        <p:spPr>
          <a:xfrm>
            <a:off x="557784" y="2697480"/>
            <a:ext cx="5257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WHY NOW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1C2A3A"/>
                </a:solidFill>
                <a:latin typeface="Calibri"/>
              </a:rPr>
              <a:t>Private-sector PSP expiry (end-2026) is already changing close conversations. Formulary packaging needs field themes, not visit counts, while the evidence window is still open.</a:t>
            </a:r>
          </a:p>
        </p:txBody>
      </p:sp>
      <p:sp>
        <p:nvSpPr>
          <p:cNvPr id="14" name="recommendation"/>
          <p:cNvSpPr txBox="1"/>
          <p:nvPr/>
        </p:nvSpPr>
        <p:spPr>
          <a:xfrm>
            <a:off x="6391656" y="2697480"/>
            <a:ext cx="5257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RECOMMENDATION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1C2A3A"/>
                </a:solidFill>
                <a:latin typeface="Calibri"/>
              </a:rPr>
              <a:t>Do: report 3 conversion signals mapped to uptake / formulary / compliance. Do not: send trip logs, named HCPs, or CRM dumps.</a:t>
            </a:r>
          </a:p>
        </p:txBody>
      </p:sp>
      <p:sp>
        <p:nvSpPr>
          <p:cNvPr id="15" name="snap_bg_1"/>
          <p:cNvSpPr/>
          <p:nvPr/>
        </p:nvSpPr>
        <p:spPr>
          <a:xfrm>
            <a:off x="411480" y="4526280"/>
            <a:ext cx="35204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nap_1"/>
          <p:cNvSpPr txBox="1"/>
          <p:nvPr/>
        </p:nvSpPr>
        <p:spPr>
          <a:xfrm>
            <a:off x="539496" y="4590288"/>
            <a:ext cx="3246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5B6B7C"/>
                </a:solidFill>
                <a:latin typeface="Calibri"/>
              </a:rPr>
              <a:t>FORMULARY THIS CYCLE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E2744"/>
                </a:solidFill>
                <a:latin typeface="Calibri"/>
              </a:rPr>
              <a:t>No change to dossier - themes usable, no new unlock</a:t>
            </a:r>
          </a:p>
        </p:txBody>
      </p:sp>
      <p:sp>
        <p:nvSpPr>
          <p:cNvPr id="17" name="snap_bg_2"/>
          <p:cNvSpPr/>
          <p:nvPr/>
        </p:nvSpPr>
        <p:spPr>
          <a:xfrm>
            <a:off x="4343400" y="4526280"/>
            <a:ext cx="35204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nap_2"/>
          <p:cNvSpPr txBox="1"/>
          <p:nvPr/>
        </p:nvSpPr>
        <p:spPr>
          <a:xfrm>
            <a:off x="4471416" y="4590288"/>
            <a:ext cx="3246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5B6B7C"/>
                </a:solidFill>
                <a:latin typeface="Calibri"/>
              </a:rPr>
              <a:t>PSP IN PLAY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E2744"/>
                </a:solidFill>
                <a:latin typeface="Calibri"/>
              </a:rPr>
              <a:t>Base Case + Private Sector (expires end-2026)</a:t>
            </a:r>
          </a:p>
        </p:txBody>
      </p:sp>
      <p:sp>
        <p:nvSpPr>
          <p:cNvPr id="19" name="snap_bg_3"/>
          <p:cNvSpPr/>
          <p:nvPr/>
        </p:nvSpPr>
        <p:spPr>
          <a:xfrm>
            <a:off x="8275320" y="4526280"/>
            <a:ext cx="35204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nap_3"/>
          <p:cNvSpPr txBox="1"/>
          <p:nvPr/>
        </p:nvSpPr>
        <p:spPr>
          <a:xfrm>
            <a:off x="8403336" y="4590288"/>
            <a:ext cx="3246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5B6B7C"/>
                </a:solidFill>
                <a:latin typeface="Calibri"/>
              </a:rPr>
              <a:t>COMPLIANCE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E2744"/>
                </a:solidFill>
                <a:latin typeface="Calibri"/>
              </a:rPr>
              <a:t>Green | PV-only lexicon | ET/MF reactive-only</a:t>
            </a:r>
          </a:p>
        </p:txBody>
      </p:sp>
      <p:sp>
        <p:nvSpPr>
          <p:cNvPr id="21" name="meta"/>
          <p:cNvSpPr txBox="1"/>
          <p:nvPr/>
        </p:nvSpPr>
        <p:spPr>
          <a:xfrm>
            <a:off x="411480" y="5623560"/>
            <a:ext cx="113659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DECISION NEEDED BY:  [YYYY-MM-DD]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OWNER:  PM, with GM for HQ send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GOES INTO:  Standing biweekly HQ update</a:t>
            </a:r>
          </a:p>
        </p:txBody>
      </p:sp>
      <p:sp>
        <p:nvSpPr>
          <p:cNvPr id="22" name="footer_rule"/>
          <p:cNvSpPr/>
          <p:nvPr/>
        </p:nvSpPr>
        <p:spPr>
          <a:xfrm>
            <a:off x="411480" y="6446520"/>
            <a:ext cx="11365992" cy="18288"/>
          </a:xfrm>
          <a:prstGeom prst="rect">
            <a:avLst/>
          </a:prstGeom>
          <a:solidFill>
            <a:srgbClr val="D8D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ooter"/>
          <p:cNvSpPr txBox="1"/>
          <p:nvPr/>
        </p:nvSpPr>
        <p:spPr>
          <a:xfrm>
            <a:off x="411480" y="6473952"/>
            <a:ext cx="113659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5B6B7C"/>
                </a:solidFill>
                <a:latin typeface="Calibri"/>
              </a:rPr>
              <a:t>Patterns only - no named HCPs, patient stories, unpublished dossier data  |  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dr_left"/>
          <p:cNvSpPr txBox="1"/>
          <p:nvPr/>
        </p:nvSpPr>
        <p:spPr>
          <a:xfrm>
            <a:off x="411480" y="128016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E2744"/>
                </a:solidFill>
                <a:latin typeface="Calibri"/>
              </a:rPr>
              <a:t>BESREMi | HK PV | PM field pack</a:t>
            </a:r>
          </a:p>
        </p:txBody>
      </p:sp>
      <p:sp>
        <p:nvSpPr>
          <p:cNvPr id="4" name="hdr_right"/>
          <p:cNvSpPr txBox="1"/>
          <p:nvPr/>
        </p:nvSpPr>
        <p:spPr>
          <a:xfrm>
            <a:off x="6583680" y="128016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Biweekly | [dates] | Mid | Internal | De-identified</a:t>
            </a:r>
          </a:p>
        </p:txBody>
      </p:sp>
      <p:sp>
        <p:nvSpPr>
          <p:cNvPr id="5" name="kicker"/>
          <p:cNvSpPr txBox="1"/>
          <p:nvPr/>
        </p:nvSpPr>
        <p:spPr>
          <a:xfrm>
            <a:off x="411480" y="42062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B7A6E"/>
                </a:solidFill>
                <a:latin typeface="Calibri"/>
              </a:rPr>
              <a:t>FIVE-SECOND SCORECARD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411480" y="658368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E2744"/>
                </a:solidFill>
                <a:latin typeface="Calibri"/>
              </a:rPr>
              <a:t>Initiation, not awareness, is the stall.</a:t>
            </a:r>
          </a:p>
        </p:txBody>
      </p:sp>
      <p:sp>
        <p:nvSpPr>
          <p:cNvPr id="7" name="rag_bg_1"/>
          <p:cNvSpPr/>
          <p:nvPr/>
        </p:nvSpPr>
        <p:spPr>
          <a:xfrm>
            <a:off x="411480" y="1353312"/>
            <a:ext cx="3520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ag_pill_1"/>
          <p:cNvSpPr/>
          <p:nvPr/>
        </p:nvSpPr>
        <p:spPr>
          <a:xfrm>
            <a:off x="2560320" y="1444752"/>
            <a:ext cx="1097280" cy="274320"/>
          </a:xfrm>
          <a:prstGeom prst="roundRect">
            <a:avLst/>
          </a:prstGeom>
          <a:solidFill>
            <a:srgbClr val="F8E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ag_name_1"/>
          <p:cNvSpPr txBox="1"/>
          <p:nvPr/>
        </p:nvSpPr>
        <p:spPr>
          <a:xfrm>
            <a:off x="557784" y="1444752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UPTAKE VS PLAN</a:t>
            </a:r>
          </a:p>
        </p:txBody>
      </p:sp>
      <p:sp>
        <p:nvSpPr>
          <p:cNvPr id="10" name="rag_pill_txt_1"/>
          <p:cNvSpPr txBox="1"/>
          <p:nvPr/>
        </p:nvSpPr>
        <p:spPr>
          <a:xfrm>
            <a:off x="2624328" y="1463040"/>
            <a:ext cx="960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B86E13"/>
                </a:solidFill>
                <a:latin typeface="Calibri"/>
              </a:rPr>
              <a:t>AMBER</a:t>
            </a:r>
          </a:p>
        </p:txBody>
      </p:sp>
      <p:sp>
        <p:nvSpPr>
          <p:cNvPr id="11" name="rag_body_1"/>
          <p:cNvSpPr txBox="1"/>
          <p:nvPr/>
        </p:nvSpPr>
        <p:spPr>
          <a:xfrm>
            <a:off x="557784" y="1783080"/>
            <a:ext cx="324612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E2744"/>
                </a:solidFill>
                <a:latin typeface="Calibri"/>
              </a:rPr>
              <a:t>Awareness holds; initiation is slow.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5B6B7C"/>
                </a:solidFill>
                <a:latin typeface="Calibri"/>
              </a:rPr>
              <a:t>Definition: private uptake vs agreed HQ plan - not call volume.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C2A3A"/>
                </a:solidFill>
                <a:latin typeface="Calibri"/>
              </a:rPr>
              <a:t>Vs last cycle: unchanged conversion quality.</a:t>
            </a:r>
          </a:p>
        </p:txBody>
      </p:sp>
      <p:sp>
        <p:nvSpPr>
          <p:cNvPr id="12" name="rag_bg_2"/>
          <p:cNvSpPr/>
          <p:nvPr/>
        </p:nvSpPr>
        <p:spPr>
          <a:xfrm>
            <a:off x="4343400" y="1353312"/>
            <a:ext cx="3520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ag_pill_2"/>
          <p:cNvSpPr/>
          <p:nvPr/>
        </p:nvSpPr>
        <p:spPr>
          <a:xfrm>
            <a:off x="6492240" y="1444752"/>
            <a:ext cx="1097280" cy="274320"/>
          </a:xfrm>
          <a:prstGeom prst="roundRect">
            <a:avLst/>
          </a:prstGeom>
          <a:solidFill>
            <a:srgbClr val="F8E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ag_name_2"/>
          <p:cNvSpPr txBox="1"/>
          <p:nvPr/>
        </p:nvSpPr>
        <p:spPr>
          <a:xfrm>
            <a:off x="4489704" y="1444752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FORMULARY TRAJECTORY</a:t>
            </a:r>
          </a:p>
        </p:txBody>
      </p:sp>
      <p:sp>
        <p:nvSpPr>
          <p:cNvPr id="15" name="rag_pill_txt_2"/>
          <p:cNvSpPr txBox="1"/>
          <p:nvPr/>
        </p:nvSpPr>
        <p:spPr>
          <a:xfrm>
            <a:off x="6556248" y="1463040"/>
            <a:ext cx="960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B86E13"/>
                </a:solidFill>
                <a:latin typeface="Calibri"/>
              </a:rPr>
              <a:t>AMBER</a:t>
            </a:r>
          </a:p>
        </p:txBody>
      </p:sp>
      <p:sp>
        <p:nvSpPr>
          <p:cNvPr id="16" name="rag_body_2"/>
          <p:cNvSpPr txBox="1"/>
          <p:nvPr/>
        </p:nvSpPr>
        <p:spPr>
          <a:xfrm>
            <a:off x="4489704" y="1783080"/>
            <a:ext cx="324612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E2744"/>
                </a:solidFill>
                <a:latin typeface="Calibri"/>
              </a:rPr>
              <a:t>Field themes are usable; dossier not advanced this cycle.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5B6B7C"/>
                </a:solidFill>
                <a:latin typeface="Calibri"/>
              </a:rPr>
              <a:t>Definition: strengthened / delayed / no change to HADF packaging.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C2A3A"/>
                </a:solidFill>
                <a:latin typeface="Calibri"/>
              </a:rPr>
              <a:t>Vs last cycle: no new evidence gap; no new unlock.</a:t>
            </a:r>
          </a:p>
        </p:txBody>
      </p:sp>
      <p:sp>
        <p:nvSpPr>
          <p:cNvPr id="17" name="rag_bg_3"/>
          <p:cNvSpPr/>
          <p:nvPr/>
        </p:nvSpPr>
        <p:spPr>
          <a:xfrm>
            <a:off x="8275320" y="1353312"/>
            <a:ext cx="3520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ag_pill_3"/>
          <p:cNvSpPr/>
          <p:nvPr/>
        </p:nvSpPr>
        <p:spPr>
          <a:xfrm>
            <a:off x="10424160" y="1444752"/>
            <a:ext cx="1097280" cy="274320"/>
          </a:xfrm>
          <a:prstGeom prst="roundRect">
            <a:avLst/>
          </a:prstGeom>
          <a:solidFill>
            <a:srgbClr val="E3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ag_name_3"/>
          <p:cNvSpPr txBox="1"/>
          <p:nvPr/>
        </p:nvSpPr>
        <p:spPr>
          <a:xfrm>
            <a:off x="8421624" y="1444752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COMPLIANCE</a:t>
            </a:r>
          </a:p>
        </p:txBody>
      </p:sp>
      <p:sp>
        <p:nvSpPr>
          <p:cNvPr id="20" name="rag_pill_txt_3"/>
          <p:cNvSpPr txBox="1"/>
          <p:nvPr/>
        </p:nvSpPr>
        <p:spPr>
          <a:xfrm>
            <a:off x="10488168" y="1463040"/>
            <a:ext cx="960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1F7A4D"/>
                </a:solidFill>
                <a:latin typeface="Calibri"/>
              </a:rPr>
              <a:t>GREEN</a:t>
            </a:r>
          </a:p>
        </p:txBody>
      </p:sp>
      <p:sp>
        <p:nvSpPr>
          <p:cNvPr id="21" name="rag_body_3"/>
          <p:cNvSpPr txBox="1"/>
          <p:nvPr/>
        </p:nvSpPr>
        <p:spPr>
          <a:xfrm>
            <a:off x="8421624" y="1783080"/>
            <a:ext cx="324612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E2744"/>
                </a:solidFill>
                <a:latin typeface="Calibri"/>
              </a:rPr>
              <a:t>No uncleared claims. ET/MF stayed reactive-only.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5B6B7C"/>
                </a:solidFill>
                <a:latin typeface="Calibri"/>
              </a:rPr>
              <a:t>Definition: materials cleared; no open UMAO/HKAPI issues.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1C2A3A"/>
                </a:solidFill>
                <a:latin typeface="Calibri"/>
              </a:rPr>
              <a:t>Vs last cycle: clean. Keep raw notes in the vault.</a:t>
            </a:r>
          </a:p>
        </p:txBody>
      </p:sp>
      <p:sp>
        <p:nvSpPr>
          <p:cNvPr id="22" name="footer_rule"/>
          <p:cNvSpPr/>
          <p:nvPr/>
        </p:nvSpPr>
        <p:spPr>
          <a:xfrm>
            <a:off x="411480" y="6446520"/>
            <a:ext cx="11365992" cy="18288"/>
          </a:xfrm>
          <a:prstGeom prst="rect">
            <a:avLst/>
          </a:prstGeom>
          <a:solidFill>
            <a:srgbClr val="D8D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ooter"/>
          <p:cNvSpPr txBox="1"/>
          <p:nvPr/>
        </p:nvSpPr>
        <p:spPr>
          <a:xfrm>
            <a:off x="411480" y="6473952"/>
            <a:ext cx="113659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5B6B7C"/>
                </a:solidFill>
                <a:latin typeface="Calibri"/>
              </a:rPr>
              <a:t>Patterns only - no named HCPs, patient stories, unpublished dossier data  |  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dr_left"/>
          <p:cNvSpPr txBox="1"/>
          <p:nvPr/>
        </p:nvSpPr>
        <p:spPr>
          <a:xfrm>
            <a:off x="411480" y="128016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E2744"/>
                </a:solidFill>
                <a:latin typeface="Calibri"/>
              </a:rPr>
              <a:t>BESREMi | HK PV | PM field pack</a:t>
            </a:r>
          </a:p>
        </p:txBody>
      </p:sp>
      <p:sp>
        <p:nvSpPr>
          <p:cNvPr id="4" name="hdr_right"/>
          <p:cNvSpPr txBox="1"/>
          <p:nvPr/>
        </p:nvSpPr>
        <p:spPr>
          <a:xfrm>
            <a:off x="6583680" y="128016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Biweekly | [dates] | Mid | Internal | De-identified</a:t>
            </a:r>
          </a:p>
        </p:txBody>
      </p:sp>
      <p:sp>
        <p:nvSpPr>
          <p:cNvPr id="5" name="kicker"/>
          <p:cNvSpPr txBox="1"/>
          <p:nvPr/>
        </p:nvSpPr>
        <p:spPr>
          <a:xfrm>
            <a:off x="411480" y="42062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B7A6E"/>
                </a:solidFill>
                <a:latin typeface="Calibri"/>
              </a:rPr>
              <a:t>FIELD SIGNALS - MAX THREE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411480" y="658368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E2744"/>
                </a:solidFill>
                <a:latin typeface="Calibri"/>
              </a:rPr>
              <a:t>What repeated in the field - not who we visited</a:t>
            </a:r>
          </a:p>
        </p:txBody>
      </p:sp>
      <p:sp>
        <p:nvSpPr>
          <p:cNvPr id="7" name="sig_bg_1"/>
          <p:cNvSpPr/>
          <p:nvPr/>
        </p:nvSpPr>
        <p:spPr>
          <a:xfrm>
            <a:off x="411480" y="1353312"/>
            <a:ext cx="3520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gnal_1"/>
          <p:cNvSpPr txBox="1"/>
          <p:nvPr/>
        </p:nvSpPr>
        <p:spPr>
          <a:xfrm>
            <a:off x="539496" y="1444752"/>
            <a:ext cx="324612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E2744"/>
                </a:solidFill>
                <a:latin typeface="Calibri"/>
              </a:rPr>
              <a:t>Affordability is understood; initiation is not.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C2A3A"/>
                </a:solidFill>
                <a:latin typeface="Calibri"/>
              </a:rPr>
              <a:t>Observed: Priority accounts repeat PSP logic, then still do not start.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C2A3A"/>
                </a:solidFill>
                <a:latin typeface="Calibri"/>
              </a:rPr>
              <a:t>So what: Uptake risk sits after affordability, not before it.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B7A6E"/>
                </a:solidFill>
                <a:latin typeface="Calibri"/>
              </a:rPr>
              <a:t>Implication: Next cycle = onboarding friction, not more awareness meetings.</a:t>
            </a:r>
          </a:p>
        </p:txBody>
      </p:sp>
      <p:sp>
        <p:nvSpPr>
          <p:cNvPr id="9" name="sig_bg_2"/>
          <p:cNvSpPr/>
          <p:nvPr/>
        </p:nvSpPr>
        <p:spPr>
          <a:xfrm>
            <a:off x="4343400" y="1353312"/>
            <a:ext cx="3520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ignal_2"/>
          <p:cNvSpPr txBox="1"/>
          <p:nvPr/>
        </p:nvSpPr>
        <p:spPr>
          <a:xfrm>
            <a:off x="4471416" y="1444752"/>
            <a:ext cx="324612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E2744"/>
                </a:solidFill>
                <a:latin typeface="Calibri"/>
              </a:rPr>
              <a:t>Price vs traditional IFN is the #1 close-blocker.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C2A3A"/>
                </a:solidFill>
                <a:latin typeface="Calibri"/>
              </a:rPr>
              <a:t>Observed: Same objection across accounts: why pay a premium vs off-label IFN.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C2A3A"/>
                </a:solidFill>
                <a:latin typeface="Calibri"/>
              </a:rPr>
              <a:t>So what: Stay inside approved PV evidence and dosing convenience.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B7A6E"/>
                </a:solidFill>
                <a:latin typeface="Calibri"/>
              </a:rPr>
              <a:t>Implication: No IFN-to-IFN superiority claim. Lexicon response only.</a:t>
            </a:r>
          </a:p>
        </p:txBody>
      </p:sp>
      <p:sp>
        <p:nvSpPr>
          <p:cNvPr id="11" name="sig_bg_3"/>
          <p:cNvSpPr/>
          <p:nvPr/>
        </p:nvSpPr>
        <p:spPr>
          <a:xfrm>
            <a:off x="8275320" y="1353312"/>
            <a:ext cx="352044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ignal_3"/>
          <p:cNvSpPr txBox="1"/>
          <p:nvPr/>
        </p:nvSpPr>
        <p:spPr>
          <a:xfrm>
            <a:off x="8403336" y="1444752"/>
            <a:ext cx="324612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E2744"/>
                </a:solidFill>
                <a:latin typeface="Calibri"/>
              </a:rPr>
              <a:t>Two PSP paths are creating two close motions.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C2A3A"/>
                </a:solidFill>
                <a:latin typeface="Calibri"/>
              </a:rPr>
              <a:t>Observed: Base Case vs Private Sector (expires end-2026) used as different close paths.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C2A3A"/>
                </a:solidFill>
                <a:latin typeface="Calibri"/>
              </a:rPr>
              <a:t>So what: Expiry is a sequencing issue for HQ, not a slogan.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B7A6E"/>
                </a:solidFill>
                <a:latin typeface="Calibri"/>
              </a:rPr>
              <a:t>Implication: Do not informal-tweak terms. Confirm eligibility before quoting.</a:t>
            </a:r>
          </a:p>
        </p:txBody>
      </p:sp>
      <p:sp>
        <p:nvSpPr>
          <p:cNvPr id="13" name="footer_rule"/>
          <p:cNvSpPr/>
          <p:nvPr/>
        </p:nvSpPr>
        <p:spPr>
          <a:xfrm>
            <a:off x="411480" y="6446520"/>
            <a:ext cx="11365992" cy="18288"/>
          </a:xfrm>
          <a:prstGeom prst="rect">
            <a:avLst/>
          </a:prstGeom>
          <a:solidFill>
            <a:srgbClr val="D8D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ooter"/>
          <p:cNvSpPr txBox="1"/>
          <p:nvPr/>
        </p:nvSpPr>
        <p:spPr>
          <a:xfrm>
            <a:off x="411480" y="6473952"/>
            <a:ext cx="113659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5B6B7C"/>
                </a:solidFill>
                <a:latin typeface="Calibri"/>
              </a:rPr>
              <a:t>Patterns only - no named HCPs, patient stories, unpublished dossier data  |  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dr_left"/>
          <p:cNvSpPr txBox="1"/>
          <p:nvPr/>
        </p:nvSpPr>
        <p:spPr>
          <a:xfrm>
            <a:off x="411480" y="128016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E2744"/>
                </a:solidFill>
                <a:latin typeface="Calibri"/>
              </a:rPr>
              <a:t>BESREMi | HK PV | PM field pack</a:t>
            </a:r>
          </a:p>
        </p:txBody>
      </p:sp>
      <p:sp>
        <p:nvSpPr>
          <p:cNvPr id="4" name="hdr_right"/>
          <p:cNvSpPr txBox="1"/>
          <p:nvPr/>
        </p:nvSpPr>
        <p:spPr>
          <a:xfrm>
            <a:off x="6583680" y="128016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Biweekly | [dates] | Mid | Internal | De-identified</a:t>
            </a:r>
          </a:p>
        </p:txBody>
      </p:sp>
      <p:sp>
        <p:nvSpPr>
          <p:cNvPr id="5" name="kicker"/>
          <p:cNvSpPr txBox="1"/>
          <p:nvPr/>
        </p:nvSpPr>
        <p:spPr>
          <a:xfrm>
            <a:off x="411480" y="42062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B7A6E"/>
                </a:solidFill>
                <a:latin typeface="Calibri"/>
              </a:rPr>
              <a:t>CONVERSION, NOT COVERAGE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411480" y="658368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E2744"/>
                </a:solidFill>
                <a:latin typeface="Calibri"/>
              </a:rPr>
              <a:t>Where field time dies</a:t>
            </a:r>
          </a:p>
        </p:txBody>
      </p:sp>
      <p:sp>
        <p:nvSpPr>
          <p:cNvPr id="7" name="funnel_bg"/>
          <p:cNvSpPr/>
          <p:nvPr/>
        </p:nvSpPr>
        <p:spPr>
          <a:xfrm>
            <a:off x="411480" y="1353312"/>
            <a:ext cx="539496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unnel_title"/>
          <p:cNvSpPr txBox="1"/>
          <p:nvPr/>
        </p:nvSpPr>
        <p:spPr>
          <a:xfrm>
            <a:off x="557784" y="1444752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ACCOUNT MOTION (QUALITATIVE)</a:t>
            </a:r>
          </a:p>
        </p:txBody>
      </p:sp>
      <p:sp>
        <p:nvSpPr>
          <p:cNvPr id="9" name="funnel_bar_1"/>
          <p:cNvSpPr/>
          <p:nvPr/>
        </p:nvSpPr>
        <p:spPr>
          <a:xfrm>
            <a:off x="640080" y="1874519"/>
            <a:ext cx="4572000" cy="621792"/>
          </a:xfrm>
          <a:prstGeom prst="roundRect">
            <a:avLst/>
          </a:prstGeom>
          <a:solidFill>
            <a:srgbClr val="0E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unnel_txt_1"/>
          <p:cNvSpPr txBox="1"/>
          <p:nvPr/>
        </p:nvSpPr>
        <p:spPr>
          <a:xfrm>
            <a:off x="713232" y="1984247"/>
            <a:ext cx="44256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FFCF7"/>
                </a:solidFill>
                <a:latin typeface="Calibri"/>
              </a:rPr>
              <a:t>Awareness - holding</a:t>
            </a:r>
          </a:p>
        </p:txBody>
      </p:sp>
      <p:sp>
        <p:nvSpPr>
          <p:cNvPr id="11" name="funnel_bar_2"/>
          <p:cNvSpPr/>
          <p:nvPr/>
        </p:nvSpPr>
        <p:spPr>
          <a:xfrm>
            <a:off x="1005840" y="2697480"/>
            <a:ext cx="3840480" cy="621792"/>
          </a:xfrm>
          <a:prstGeom prst="roundRect">
            <a:avLst/>
          </a:prstGeom>
          <a:solidFill>
            <a:srgbClr val="0E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unnel_txt_2"/>
          <p:cNvSpPr txBox="1"/>
          <p:nvPr/>
        </p:nvSpPr>
        <p:spPr>
          <a:xfrm>
            <a:off x="1078992" y="2807208"/>
            <a:ext cx="36941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FFCF7"/>
                </a:solidFill>
                <a:latin typeface="Calibri"/>
              </a:rPr>
              <a:t>Intent - holding</a:t>
            </a:r>
          </a:p>
        </p:txBody>
      </p:sp>
      <p:sp>
        <p:nvSpPr>
          <p:cNvPr id="13" name="funnel_bar_3"/>
          <p:cNvSpPr/>
          <p:nvPr/>
        </p:nvSpPr>
        <p:spPr>
          <a:xfrm>
            <a:off x="1371600" y="3520440"/>
            <a:ext cx="3108960" cy="621792"/>
          </a:xfrm>
          <a:prstGeom prst="roundRect">
            <a:avLst/>
          </a:prstGeom>
          <a:solidFill>
            <a:srgbClr val="0E2744"/>
          </a:solidFill>
          <a:ln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unnel_txt_3"/>
          <p:cNvSpPr txBox="1"/>
          <p:nvPr/>
        </p:nvSpPr>
        <p:spPr>
          <a:xfrm>
            <a:off x="1444752" y="3630168"/>
            <a:ext cx="296265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FFCF7"/>
                </a:solidFill>
                <a:latin typeface="Calibri"/>
              </a:rPr>
              <a:t>Initiation - STALL</a:t>
            </a:r>
          </a:p>
        </p:txBody>
      </p:sp>
      <p:sp>
        <p:nvSpPr>
          <p:cNvPr id="15" name="funnel_bar_4"/>
          <p:cNvSpPr/>
          <p:nvPr/>
        </p:nvSpPr>
        <p:spPr>
          <a:xfrm>
            <a:off x="1828800" y="4343400"/>
            <a:ext cx="2468880" cy="621792"/>
          </a:xfrm>
          <a:prstGeom prst="roundRect">
            <a:avLst/>
          </a:prstGeom>
          <a:solidFill>
            <a:srgbClr val="0E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unnel_txt_4"/>
          <p:cNvSpPr txBox="1"/>
          <p:nvPr/>
        </p:nvSpPr>
        <p:spPr>
          <a:xfrm>
            <a:off x="1901952" y="4453128"/>
            <a:ext cx="23225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FFFCF7"/>
                </a:solidFill>
                <a:latin typeface="Calibri"/>
              </a:rPr>
              <a:t>Persistency - too early</a:t>
            </a:r>
          </a:p>
        </p:txBody>
      </p:sp>
      <p:sp>
        <p:nvSpPr>
          <p:cNvPr id="17" name="funnel_note"/>
          <p:cNvSpPr txBox="1"/>
          <p:nvPr/>
        </p:nvSpPr>
        <p:spPr>
          <a:xfrm>
            <a:off x="557784" y="507492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5B6B7C"/>
                </a:solidFill>
                <a:latin typeface="Calibri"/>
              </a:rPr>
              <a:t>Widths are illustrative. Replace with your qualitative read - do not invent counts.</a:t>
            </a:r>
          </a:p>
        </p:txBody>
      </p:sp>
      <p:sp>
        <p:nvSpPr>
          <p:cNvPr id="18" name="barrier_bg"/>
          <p:cNvSpPr/>
          <p:nvPr/>
        </p:nvSpPr>
        <p:spPr>
          <a:xfrm>
            <a:off x="6126480" y="1353312"/>
            <a:ext cx="5650992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barriers"/>
          <p:cNvSpPr txBox="1"/>
          <p:nvPr/>
        </p:nvSpPr>
        <p:spPr>
          <a:xfrm>
            <a:off x="6272784" y="1444752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RANKED BARRIERS (MAX 4)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C2A3A"/>
                </a:solidFill>
                <a:latin typeface="Calibri"/>
              </a:rPr>
              <a:t>1  Initiation / onboarding after PSP explanation  -&gt; Uptake  | New as the pattern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C2A3A"/>
                </a:solidFill>
                <a:latin typeface="Calibri"/>
              </a:rPr>
              <a:t>2  Price vs traditional IFN - lexicon-bound answer only  -&gt; Uptake + compliance  | Unchanged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C2A3A"/>
                </a:solidFill>
                <a:latin typeface="Calibri"/>
              </a:rPr>
              <a:t>3  Private Sector PSP clock changing urgency unevenly  -&gt; Access / PSP  | Rising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C2A3A"/>
                </a:solidFill>
                <a:latin typeface="Calibri"/>
              </a:rPr>
              <a:t>4  [Fourth barrier or delete row]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0E2744"/>
                </a:solidFill>
                <a:latin typeface="Calibri"/>
              </a:rPr>
              <a:t>Moved this cycle: Stopped spreading coverage. Next two weeks: initiation checklist on the priority-account list (titles only; no HCP names on this slide).</a:t>
            </a:r>
          </a:p>
        </p:txBody>
      </p:sp>
      <p:sp>
        <p:nvSpPr>
          <p:cNvPr id="20" name="footer_rule"/>
          <p:cNvSpPr/>
          <p:nvPr/>
        </p:nvSpPr>
        <p:spPr>
          <a:xfrm>
            <a:off x="411480" y="6446520"/>
            <a:ext cx="11365992" cy="18288"/>
          </a:xfrm>
          <a:prstGeom prst="rect">
            <a:avLst/>
          </a:prstGeom>
          <a:solidFill>
            <a:srgbClr val="D8D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ooter"/>
          <p:cNvSpPr txBox="1"/>
          <p:nvPr/>
        </p:nvSpPr>
        <p:spPr>
          <a:xfrm>
            <a:off x="411480" y="6473952"/>
            <a:ext cx="113659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5B6B7C"/>
                </a:solidFill>
                <a:latin typeface="Calibri"/>
              </a:rPr>
              <a:t>Patterns only - no named HCPs, patient stories, unpublished dossier data  |  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dr_left"/>
          <p:cNvSpPr txBox="1"/>
          <p:nvPr/>
        </p:nvSpPr>
        <p:spPr>
          <a:xfrm>
            <a:off x="411480" y="128016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E2744"/>
                </a:solidFill>
                <a:latin typeface="Calibri"/>
              </a:rPr>
              <a:t>BESREMi | HK PV | PM field pack</a:t>
            </a:r>
          </a:p>
        </p:txBody>
      </p:sp>
      <p:sp>
        <p:nvSpPr>
          <p:cNvPr id="4" name="hdr_right"/>
          <p:cNvSpPr txBox="1"/>
          <p:nvPr/>
        </p:nvSpPr>
        <p:spPr>
          <a:xfrm>
            <a:off x="6583680" y="128016"/>
            <a:ext cx="5212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Biweekly | [dates] | Mid | Internal | De-identified</a:t>
            </a:r>
          </a:p>
        </p:txBody>
      </p:sp>
      <p:sp>
        <p:nvSpPr>
          <p:cNvPr id="5" name="kicker"/>
          <p:cNvSpPr txBox="1"/>
          <p:nvPr/>
        </p:nvSpPr>
        <p:spPr>
          <a:xfrm>
            <a:off x="411480" y="420624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B7A6E"/>
                </a:solidFill>
                <a:latin typeface="Calibri"/>
              </a:rPr>
              <a:t>DECISION PAGE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411480" y="658368"/>
            <a:ext cx="11338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E2744"/>
                </a:solidFill>
                <a:latin typeface="Calibri"/>
              </a:rPr>
              <a:t>Options, risks, and the HQ ask</a:t>
            </a:r>
          </a:p>
        </p:txBody>
      </p:sp>
      <p:sp>
        <p:nvSpPr>
          <p:cNvPr id="7" name="opt_bg_1"/>
          <p:cNvSpPr/>
          <p:nvPr/>
        </p:nvSpPr>
        <p:spPr>
          <a:xfrm>
            <a:off x="411480" y="1298448"/>
            <a:ext cx="35204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ption_1"/>
          <p:cNvSpPr txBox="1"/>
          <p:nvPr/>
        </p:nvSpPr>
        <p:spPr>
          <a:xfrm>
            <a:off x="539496" y="1371600"/>
            <a:ext cx="32461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1B7A6E"/>
                </a:solidFill>
                <a:latin typeface="Calibri"/>
              </a:rPr>
              <a:t>NOT RECOMMENDED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E2744"/>
                </a:solidFill>
                <a:latin typeface="Calibri"/>
              </a:rPr>
              <a:t>A. Keep activity reports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C2A3A"/>
                </a:solidFill>
                <a:latin typeface="Calibri"/>
              </a:rPr>
              <a:t>Visit counts and trip notes. Easy to write; HQ cannot see the thesis.</a:t>
            </a:r>
          </a:p>
        </p:txBody>
      </p:sp>
      <p:sp>
        <p:nvSpPr>
          <p:cNvPr id="9" name="opt_bg_2"/>
          <p:cNvSpPr/>
          <p:nvPr/>
        </p:nvSpPr>
        <p:spPr>
          <a:xfrm>
            <a:off x="4343400" y="1298448"/>
            <a:ext cx="3520440" cy="1874519"/>
          </a:xfrm>
          <a:prstGeom prst="roundRect">
            <a:avLst/>
          </a:prstGeom>
          <a:solidFill>
            <a:srgbClr val="E4F3E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tion_2"/>
          <p:cNvSpPr txBox="1"/>
          <p:nvPr/>
        </p:nvSpPr>
        <p:spPr>
          <a:xfrm>
            <a:off x="4471416" y="1371600"/>
            <a:ext cx="32461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1B7A6E"/>
                </a:solidFill>
                <a:latin typeface="Calibri"/>
              </a:rPr>
              <a:t>RECOMMENDED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E2744"/>
                </a:solidFill>
                <a:latin typeface="Calibri"/>
              </a:rPr>
              <a:t>B. Signal -&gt; implication -&gt; ask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C2A3A"/>
                </a:solidFill>
                <a:latin typeface="Calibri"/>
              </a:rPr>
              <a:t>This pack. Three patterns, RAG vs plan, one decision date.</a:t>
            </a:r>
          </a:p>
        </p:txBody>
      </p:sp>
      <p:sp>
        <p:nvSpPr>
          <p:cNvPr id="11" name="opt_bg_3"/>
          <p:cNvSpPr/>
          <p:nvPr/>
        </p:nvSpPr>
        <p:spPr>
          <a:xfrm>
            <a:off x="8275320" y="1298448"/>
            <a:ext cx="35204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ption_3"/>
          <p:cNvSpPr txBox="1"/>
          <p:nvPr/>
        </p:nvSpPr>
        <p:spPr>
          <a:xfrm>
            <a:off x="8403336" y="1371600"/>
            <a:ext cx="32461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1B7A6E"/>
                </a:solidFill>
                <a:latin typeface="Calibri"/>
              </a:rPr>
              <a:t>NOT RECOMMENDED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E2744"/>
                </a:solidFill>
                <a:latin typeface="Calibri"/>
              </a:rPr>
              <a:t>C. CRM dump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C2A3A"/>
                </a:solidFill>
                <a:latin typeface="Calibri"/>
              </a:rPr>
              <a:t>Looks rigorous, usually unreadable, often too sensitive to forward.</a:t>
            </a:r>
          </a:p>
        </p:txBody>
      </p:sp>
      <p:sp>
        <p:nvSpPr>
          <p:cNvPr id="13" name="premortem_bg"/>
          <p:cNvSpPr/>
          <p:nvPr/>
        </p:nvSpPr>
        <p:spPr>
          <a:xfrm>
            <a:off x="411480" y="3310128"/>
            <a:ext cx="5532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sk_bg"/>
          <p:cNvSpPr/>
          <p:nvPr/>
        </p:nvSpPr>
        <p:spPr>
          <a:xfrm>
            <a:off x="6245352" y="3310128"/>
            <a:ext cx="5532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emortem"/>
          <p:cNvSpPr txBox="1"/>
          <p:nvPr/>
        </p:nvSpPr>
        <p:spPr>
          <a:xfrm>
            <a:off x="539496" y="3383280"/>
            <a:ext cx="5257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PRE-MORTEM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C2A3A"/>
                </a:solidFill>
                <a:latin typeface="Calibri"/>
              </a:rPr>
              <a:t>If this fails: someone still scores the team on call volume, so activity theatre returns.</a:t>
            </a:r>
          </a:p>
        </p:txBody>
      </p:sp>
      <p:sp>
        <p:nvSpPr>
          <p:cNvPr id="16" name="share_risk"/>
          <p:cNvSpPr txBox="1"/>
          <p:nvPr/>
        </p:nvSpPr>
        <p:spPr>
          <a:xfrm>
            <a:off x="6373368" y="3383280"/>
            <a:ext cx="5257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SHAREABLE-PACK RISK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C2A3A"/>
                </a:solidFill>
                <a:latin typeface="Calibri"/>
              </a:rPr>
              <a:t>A named KOL or patient-adjacent story leaks into a forwardable deck.</a:t>
            </a:r>
          </a:p>
        </p:txBody>
      </p:sp>
      <p:sp>
        <p:nvSpPr>
          <p:cNvPr id="17" name="actions_bg"/>
          <p:cNvSpPr/>
          <p:nvPr/>
        </p:nvSpPr>
        <p:spPr>
          <a:xfrm>
            <a:off x="411480" y="4617720"/>
            <a:ext cx="11365992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ions"/>
          <p:cNvSpPr txBox="1"/>
          <p:nvPr/>
        </p:nvSpPr>
        <p:spPr>
          <a:xfrm>
            <a:off x="539496" y="4681728"/>
            <a:ext cx="110642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5B6B7C"/>
                </a:solidFill>
                <a:latin typeface="Calibri"/>
              </a:rPr>
              <a:t>NEXT ACTIONS  |  role + date, not names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C2A3A"/>
                </a:solidFill>
                <a:latin typeface="Calibri"/>
              </a:rPr>
              <a:t>1  Rewrite last trip report into this 5-slide pack; strip names  |  PM  |  This week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C2A3A"/>
                </a:solidFill>
                <a:latin typeface="Calibri"/>
              </a:rPr>
              <a:t>2  Lock RAG definitions with GM (uptake / formulary / compliance)  |  PM + GM  |  Next HQ cycle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C2A3A"/>
                </a:solidFill>
                <a:latin typeface="Calibri"/>
              </a:rPr>
              <a:t>3  Compliance pass: no ET/MF promotion, no uncleared claims  |  PM + Legal/Compliance  |  Before send</a:t>
            </a:r>
          </a:p>
        </p:txBody>
      </p:sp>
      <p:sp>
        <p:nvSpPr>
          <p:cNvPr id="19" name="footer_rule"/>
          <p:cNvSpPr/>
          <p:nvPr/>
        </p:nvSpPr>
        <p:spPr>
          <a:xfrm>
            <a:off x="411480" y="6446520"/>
            <a:ext cx="11365992" cy="18288"/>
          </a:xfrm>
          <a:prstGeom prst="rect">
            <a:avLst/>
          </a:prstGeom>
          <a:solidFill>
            <a:srgbClr val="D8D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ooter"/>
          <p:cNvSpPr txBox="1"/>
          <p:nvPr/>
        </p:nvSpPr>
        <p:spPr>
          <a:xfrm>
            <a:off x="411480" y="6473952"/>
            <a:ext cx="113659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5B6B7C"/>
                </a:solidFill>
                <a:latin typeface="Calibri"/>
              </a:rPr>
              <a:t>Patterns only - no named HCPs, patient stories, unpublished dossier data  |  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
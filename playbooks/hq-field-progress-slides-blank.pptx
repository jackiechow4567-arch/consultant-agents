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left"/>
          <p:cNvSpPr txBox="1"/>
          <p:nvPr/>
        </p:nvSpPr>
        <p:spPr>
          <a:xfrm>
            <a:off x="411480" y="128016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E2744"/>
                </a:solidFill>
                <a:latin typeface="Calibri"/>
              </a:rPr>
              <a:t>[Product] | [Market] | PM field pack</a:t>
            </a:r>
          </a:p>
        </p:txBody>
      </p:sp>
      <p:sp>
        <p:nvSpPr>
          <p:cNvPr id="4" name="hdr_right"/>
          <p:cNvSpPr txBox="1"/>
          <p:nvPr/>
        </p:nvSpPr>
        <p:spPr>
          <a:xfrm>
            <a:off x="6583680" y="12801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Biweekly | [DD Mon - DD Mon YYYY] | [Low/Mid/High] | Internal | De-identified</a:t>
            </a:r>
          </a:p>
        </p:txBody>
      </p:sp>
      <p:sp>
        <p:nvSpPr>
          <p:cNvPr id="5" name="flag_bg"/>
          <p:cNvSpPr/>
          <p:nvPr/>
        </p:nvSpPr>
        <p:spPr>
          <a:xfrm>
            <a:off x="411480" y="384048"/>
            <a:ext cx="6583680" cy="310896"/>
          </a:xfrm>
          <a:prstGeom prst="roundRect">
            <a:avLst/>
          </a:prstGeom>
          <a:solidFill>
            <a:srgbClr val="F8E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ag"/>
          <p:cNvSpPr txBox="1"/>
          <p:nvPr/>
        </p:nvSpPr>
        <p:spPr>
          <a:xfrm>
            <a:off x="521208" y="420624"/>
            <a:ext cx="6309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B4E00"/>
                </a:solidFill>
                <a:latin typeface="Calibri"/>
              </a:rPr>
              <a:t>TEMPLATE - fill every [bracket] before sending to HQ</a:t>
            </a:r>
          </a:p>
        </p:txBody>
      </p:sp>
      <p:sp>
        <p:nvSpPr>
          <p:cNvPr id="7" name="kicker"/>
          <p:cNvSpPr txBox="1"/>
          <p:nvPr/>
        </p:nvSpPr>
        <p:spPr>
          <a:xfrm>
            <a:off x="411480" y="749808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B7A6E"/>
                </a:solidFill>
                <a:latin typeface="Calibri"/>
              </a:rPr>
              <a:t>THE ASK - FIRST 30 SECONDS</a:t>
            </a:r>
          </a:p>
        </p:txBody>
      </p:sp>
      <p:sp>
        <p:nvSpPr>
          <p:cNvPr id="8" name="ask_bg"/>
          <p:cNvSpPr/>
          <p:nvPr/>
        </p:nvSpPr>
        <p:spPr>
          <a:xfrm>
            <a:off x="411480" y="1024128"/>
            <a:ext cx="11365992" cy="1417320"/>
          </a:xfrm>
          <a:prstGeom prst="roundRect">
            <a:avLst/>
          </a:prstGeom>
          <a:solidFill>
            <a:srgbClr val="0E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sk_label"/>
          <p:cNvSpPr txBox="1"/>
          <p:nvPr/>
        </p:nvSpPr>
        <p:spPr>
          <a:xfrm>
            <a:off x="594360" y="1097280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B8860B"/>
                </a:solidFill>
                <a:latin typeface="Calibri"/>
              </a:rPr>
              <a:t>HQ SHOULD DO THIS</a:t>
            </a:r>
          </a:p>
        </p:txBody>
      </p:sp>
      <p:sp>
        <p:nvSpPr>
          <p:cNvPr id="10" name="ask"/>
          <p:cNvSpPr txBox="1"/>
          <p:nvPr/>
        </p:nvSpPr>
        <p:spPr>
          <a:xfrm>
            <a:off x="594360" y="135331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FFFCF7"/>
                </a:solidFill>
                <a:latin typeface="Calibri"/>
              </a:rPr>
              <a:t>[One sentence: what HQ must decide or note. Lead with the action.]</a:t>
            </a:r>
          </a:p>
        </p:txBody>
      </p:sp>
      <p:sp>
        <p:nvSpPr>
          <p:cNvPr id="11" name="why_bg"/>
          <p:cNvSpPr/>
          <p:nvPr/>
        </p:nvSpPr>
        <p:spPr>
          <a:xfrm>
            <a:off x="411480" y="2606040"/>
            <a:ext cx="5532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_bg"/>
          <p:cNvSpPr/>
          <p:nvPr/>
        </p:nvSpPr>
        <p:spPr>
          <a:xfrm>
            <a:off x="6245352" y="2606040"/>
            <a:ext cx="55321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y_now"/>
          <p:cNvSpPr txBox="1"/>
          <p:nvPr/>
        </p:nvSpPr>
        <p:spPr>
          <a:xfrm>
            <a:off x="557784" y="2697480"/>
            <a:ext cx="52578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WHY NOW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[Window, competitor, PSP clock, or formulary cycle that makes this cycle material.]</a:t>
            </a:r>
          </a:p>
        </p:txBody>
      </p:sp>
      <p:sp>
        <p:nvSpPr>
          <p:cNvPr id="14" name="recommendation"/>
          <p:cNvSpPr txBox="1"/>
          <p:nvPr/>
        </p:nvSpPr>
        <p:spPr>
          <a:xfrm>
            <a:off x="6391656" y="2697480"/>
            <a:ext cx="52578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RECOMMENDATION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Do: [X]. Do not: [Y].</a:t>
            </a:r>
          </a:p>
        </p:txBody>
      </p:sp>
      <p:sp>
        <p:nvSpPr>
          <p:cNvPr id="15" name="snap_bg_1"/>
          <p:cNvSpPr/>
          <p:nvPr/>
        </p:nvSpPr>
        <p:spPr>
          <a:xfrm>
            <a:off x="411480" y="4526280"/>
            <a:ext cx="3520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nap_1"/>
          <p:cNvSpPr txBox="1"/>
          <p:nvPr/>
        </p:nvSpPr>
        <p:spPr>
          <a:xfrm>
            <a:off x="539496" y="4590288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5B6B7C"/>
                </a:solidFill>
                <a:latin typeface="Calibri"/>
              </a:rPr>
              <a:t>FORMULARY THIS CYCLE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E2744"/>
                </a:solidFill>
                <a:latin typeface="Calibri"/>
              </a:rPr>
              <a:t>[Strengthened / delayed / no change]</a:t>
            </a:r>
          </a:p>
        </p:txBody>
      </p:sp>
      <p:sp>
        <p:nvSpPr>
          <p:cNvPr id="17" name="snap_bg_2"/>
          <p:cNvSpPr/>
          <p:nvPr/>
        </p:nvSpPr>
        <p:spPr>
          <a:xfrm>
            <a:off x="4343400" y="4526280"/>
            <a:ext cx="3520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nap_2"/>
          <p:cNvSpPr txBox="1"/>
          <p:nvPr/>
        </p:nvSpPr>
        <p:spPr>
          <a:xfrm>
            <a:off x="4471416" y="4590288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5B6B7C"/>
                </a:solidFill>
                <a:latin typeface="Calibri"/>
              </a:rPr>
              <a:t>PSP IN PLAY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E2744"/>
                </a:solidFill>
                <a:latin typeface="Calibri"/>
              </a:rPr>
              <a:t>[Base Case / Private Sector / both] + expiry note</a:t>
            </a:r>
          </a:p>
        </p:txBody>
      </p:sp>
      <p:sp>
        <p:nvSpPr>
          <p:cNvPr id="19" name="snap_bg_3"/>
          <p:cNvSpPr/>
          <p:nvPr/>
        </p:nvSpPr>
        <p:spPr>
          <a:xfrm>
            <a:off x="8275320" y="4526280"/>
            <a:ext cx="3520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nap_3"/>
          <p:cNvSpPr txBox="1"/>
          <p:nvPr/>
        </p:nvSpPr>
        <p:spPr>
          <a:xfrm>
            <a:off x="8403336" y="4590288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5B6B7C"/>
                </a:solidFill>
                <a:latin typeface="Calibri"/>
              </a:rPr>
              <a:t>COMPLIANCE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E2744"/>
                </a:solidFill>
                <a:latin typeface="Calibri"/>
              </a:rPr>
              <a:t>[G/A/R] | lexicon | reactive-only status</a:t>
            </a:r>
          </a:p>
        </p:txBody>
      </p:sp>
      <p:sp>
        <p:nvSpPr>
          <p:cNvPr id="21" name="meta"/>
          <p:cNvSpPr txBox="1"/>
          <p:nvPr/>
        </p:nvSpPr>
        <p:spPr>
          <a:xfrm>
            <a:off x="411480" y="5623560"/>
            <a:ext cx="113659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DECISION NEEDED BY:  [YYYY-MM-DD]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OWNER:  [PM / GM / HQ role]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GOES INTO:  [Biweekly HQ update / ad-hoc escalation]</a:t>
            </a:r>
          </a:p>
        </p:txBody>
      </p:sp>
      <p:sp>
        <p:nvSpPr>
          <p:cNvPr id="22" name="footer_rule"/>
          <p:cNvSpPr/>
          <p:nvPr/>
        </p:nvSpPr>
        <p:spPr>
          <a:xfrm>
            <a:off x="411480" y="6446520"/>
            <a:ext cx="11365992" cy="18288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Patterns only - no named HCPs, patient stories, unpublished dossier data  |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left"/>
          <p:cNvSpPr txBox="1"/>
          <p:nvPr/>
        </p:nvSpPr>
        <p:spPr>
          <a:xfrm>
            <a:off x="411480" y="128016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E2744"/>
                </a:solidFill>
                <a:latin typeface="Calibri"/>
              </a:rPr>
              <a:t>[Product] | [Market] | PM field pack</a:t>
            </a:r>
          </a:p>
        </p:txBody>
      </p:sp>
      <p:sp>
        <p:nvSpPr>
          <p:cNvPr id="4" name="hdr_right"/>
          <p:cNvSpPr txBox="1"/>
          <p:nvPr/>
        </p:nvSpPr>
        <p:spPr>
          <a:xfrm>
            <a:off x="6583680" y="12801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Biweekly | [DD Mon - DD Mon YYYY] | [Low/Mid/High] | Internal | De-identified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411480" y="42062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B7A6E"/>
                </a:solidFill>
                <a:latin typeface="Calibri"/>
              </a:rPr>
              <a:t>FIVE-SECOND SCORECARD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658368"/>
            <a:ext cx="11338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0E2744"/>
                </a:solidFill>
                <a:latin typeface="Calibri"/>
              </a:rPr>
              <a:t>[Insight title: the stall or the unlock - not a chart title]</a:t>
            </a:r>
          </a:p>
        </p:txBody>
      </p:sp>
      <p:sp>
        <p:nvSpPr>
          <p:cNvPr id="7" name="rag_bg_1"/>
          <p:cNvSpPr/>
          <p:nvPr/>
        </p:nvSpPr>
        <p:spPr>
          <a:xfrm>
            <a:off x="411480" y="1353312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g_pill_1"/>
          <p:cNvSpPr/>
          <p:nvPr/>
        </p:nvSpPr>
        <p:spPr>
          <a:xfrm>
            <a:off x="2560320" y="1444752"/>
            <a:ext cx="1097280" cy="274320"/>
          </a:xfrm>
          <a:prstGeom prst="roundRect">
            <a:avLst/>
          </a:prstGeom>
          <a:solidFill>
            <a:srgbClr val="F8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g_name_1"/>
          <p:cNvSpPr txBox="1"/>
          <p:nvPr/>
        </p:nvSpPr>
        <p:spPr>
          <a:xfrm>
            <a:off x="557784" y="14447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UPTAKE VS PLAN</a:t>
            </a:r>
          </a:p>
        </p:txBody>
      </p:sp>
      <p:sp>
        <p:nvSpPr>
          <p:cNvPr id="10" name="rag_pill_txt_1"/>
          <p:cNvSpPr txBox="1"/>
          <p:nvPr/>
        </p:nvSpPr>
        <p:spPr>
          <a:xfrm>
            <a:off x="2624328" y="1463040"/>
            <a:ext cx="960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B86E13"/>
                </a:solidFill>
                <a:latin typeface="Calibri"/>
              </a:rPr>
              <a:t>[G/A/R]</a:t>
            </a:r>
          </a:p>
        </p:txBody>
      </p:sp>
      <p:sp>
        <p:nvSpPr>
          <p:cNvPr id="11" name="rag_body_1"/>
          <p:cNvSpPr txBox="1"/>
          <p:nvPr/>
        </p:nvSpPr>
        <p:spPr>
          <a:xfrm>
            <a:off x="557784" y="1783080"/>
            <a:ext cx="32461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E2744"/>
                </a:solidFill>
                <a:latin typeface="Calibri"/>
              </a:rPr>
              <a:t>[One line vs agreed plan.]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5B6B7C"/>
                </a:solidFill>
                <a:latin typeface="Calibri"/>
              </a:rPr>
              <a:t>Definition: [your HQ plan metric]. Not call volume.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C2A3A"/>
                </a:solidFill>
                <a:latin typeface="Calibri"/>
              </a:rPr>
              <a:t>Vs last cycle: [improved / unchanged / worsened].</a:t>
            </a:r>
          </a:p>
        </p:txBody>
      </p:sp>
      <p:sp>
        <p:nvSpPr>
          <p:cNvPr id="12" name="rag_bg_2"/>
          <p:cNvSpPr/>
          <p:nvPr/>
        </p:nvSpPr>
        <p:spPr>
          <a:xfrm>
            <a:off x="4343400" y="1353312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g_pill_2"/>
          <p:cNvSpPr/>
          <p:nvPr/>
        </p:nvSpPr>
        <p:spPr>
          <a:xfrm>
            <a:off x="6492240" y="1444752"/>
            <a:ext cx="1097280" cy="274320"/>
          </a:xfrm>
          <a:prstGeom prst="roundRect">
            <a:avLst/>
          </a:prstGeom>
          <a:solidFill>
            <a:srgbClr val="F8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ag_name_2"/>
          <p:cNvSpPr txBox="1"/>
          <p:nvPr/>
        </p:nvSpPr>
        <p:spPr>
          <a:xfrm>
            <a:off x="4489704" y="14447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FORMULARY TRAJECTORY</a:t>
            </a:r>
          </a:p>
        </p:txBody>
      </p:sp>
      <p:sp>
        <p:nvSpPr>
          <p:cNvPr id="15" name="rag_pill_txt_2"/>
          <p:cNvSpPr txBox="1"/>
          <p:nvPr/>
        </p:nvSpPr>
        <p:spPr>
          <a:xfrm>
            <a:off x="6556248" y="1463040"/>
            <a:ext cx="960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B86E13"/>
                </a:solidFill>
                <a:latin typeface="Calibri"/>
              </a:rPr>
              <a:t>[G/A/R]</a:t>
            </a:r>
          </a:p>
        </p:txBody>
      </p:sp>
      <p:sp>
        <p:nvSpPr>
          <p:cNvPr id="16" name="rag_body_2"/>
          <p:cNvSpPr txBox="1"/>
          <p:nvPr/>
        </p:nvSpPr>
        <p:spPr>
          <a:xfrm>
            <a:off x="4489704" y="1783080"/>
            <a:ext cx="32461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E2744"/>
                </a:solidFill>
                <a:latin typeface="Calibri"/>
              </a:rPr>
              <a:t>[Strengthened / delayed / no change.]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5B6B7C"/>
                </a:solidFill>
                <a:latin typeface="Calibri"/>
              </a:rPr>
              <a:t>Definition: HADF packaging status this cycle.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C2A3A"/>
                </a:solidFill>
                <a:latin typeface="Calibri"/>
              </a:rPr>
              <a:t>Vs last cycle: [one line].</a:t>
            </a:r>
          </a:p>
        </p:txBody>
      </p:sp>
      <p:sp>
        <p:nvSpPr>
          <p:cNvPr id="17" name="rag_bg_3"/>
          <p:cNvSpPr/>
          <p:nvPr/>
        </p:nvSpPr>
        <p:spPr>
          <a:xfrm>
            <a:off x="8275320" y="1353312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ag_pill_3"/>
          <p:cNvSpPr/>
          <p:nvPr/>
        </p:nvSpPr>
        <p:spPr>
          <a:xfrm>
            <a:off x="10424160" y="1444752"/>
            <a:ext cx="1097280" cy="2743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ag_name_3"/>
          <p:cNvSpPr txBox="1"/>
          <p:nvPr/>
        </p:nvSpPr>
        <p:spPr>
          <a:xfrm>
            <a:off x="8421624" y="14447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COMPLIANCE</a:t>
            </a:r>
          </a:p>
        </p:txBody>
      </p:sp>
      <p:sp>
        <p:nvSpPr>
          <p:cNvPr id="20" name="rag_pill_txt_3"/>
          <p:cNvSpPr txBox="1"/>
          <p:nvPr/>
        </p:nvSpPr>
        <p:spPr>
          <a:xfrm>
            <a:off x="10488168" y="1463040"/>
            <a:ext cx="960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F7A4D"/>
                </a:solidFill>
                <a:latin typeface="Calibri"/>
              </a:rPr>
              <a:t>[G/A/R]</a:t>
            </a:r>
          </a:p>
        </p:txBody>
      </p:sp>
      <p:sp>
        <p:nvSpPr>
          <p:cNvPr id="21" name="rag_body_3"/>
          <p:cNvSpPr txBox="1"/>
          <p:nvPr/>
        </p:nvSpPr>
        <p:spPr>
          <a:xfrm>
            <a:off x="8421624" y="1783080"/>
            <a:ext cx="32461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E2744"/>
                </a:solidFill>
                <a:latin typeface="Calibri"/>
              </a:rPr>
              <a:t>[Cleared materials? Open issues? Reactive-only held?]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5B6B7C"/>
                </a:solidFill>
                <a:latin typeface="Calibri"/>
              </a:rPr>
              <a:t>Definition: UMAO/HKAPI + lexicon.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C2A3A"/>
                </a:solidFill>
                <a:latin typeface="Calibri"/>
              </a:rPr>
              <a:t>Vs last cycle: [one line].</a:t>
            </a:r>
          </a:p>
        </p:txBody>
      </p:sp>
      <p:sp>
        <p:nvSpPr>
          <p:cNvPr id="22" name="footer_rule"/>
          <p:cNvSpPr/>
          <p:nvPr/>
        </p:nvSpPr>
        <p:spPr>
          <a:xfrm>
            <a:off x="411480" y="6446520"/>
            <a:ext cx="11365992" cy="18288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Patterns only - no named HCPs, patient stories, unpublished dossier data  |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left"/>
          <p:cNvSpPr txBox="1"/>
          <p:nvPr/>
        </p:nvSpPr>
        <p:spPr>
          <a:xfrm>
            <a:off x="411480" y="128016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E2744"/>
                </a:solidFill>
                <a:latin typeface="Calibri"/>
              </a:rPr>
              <a:t>[Product] | [Market] | PM field pack</a:t>
            </a:r>
          </a:p>
        </p:txBody>
      </p:sp>
      <p:sp>
        <p:nvSpPr>
          <p:cNvPr id="4" name="hdr_right"/>
          <p:cNvSpPr txBox="1"/>
          <p:nvPr/>
        </p:nvSpPr>
        <p:spPr>
          <a:xfrm>
            <a:off x="6583680" y="12801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Biweekly | [DD Mon - DD Mon YYYY] | [Low/Mid/High] | Internal | De-identified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411480" y="42062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B7A6E"/>
                </a:solidFill>
                <a:latin typeface="Calibri"/>
              </a:rPr>
              <a:t>FIELD SIGNALS - MAX THREE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658368"/>
            <a:ext cx="11338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0E2744"/>
                </a:solidFill>
                <a:latin typeface="Calibri"/>
              </a:rPr>
              <a:t>What repeated in the field - not who we visited</a:t>
            </a:r>
          </a:p>
        </p:txBody>
      </p:sp>
      <p:sp>
        <p:nvSpPr>
          <p:cNvPr id="7" name="sig_bg_1"/>
          <p:cNvSpPr/>
          <p:nvPr/>
        </p:nvSpPr>
        <p:spPr>
          <a:xfrm>
            <a:off x="411480" y="1353312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ignal_1"/>
          <p:cNvSpPr txBox="1"/>
          <p:nvPr/>
        </p:nvSpPr>
        <p:spPr>
          <a:xfrm>
            <a:off x="539496" y="1444752"/>
            <a:ext cx="32461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2744"/>
                </a:solidFill>
                <a:latin typeface="Calibri"/>
              </a:rPr>
              <a:t>[Pattern 1 - not a visit count]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2A3A"/>
                </a:solidFill>
                <a:latin typeface="Calibri"/>
              </a:rPr>
              <a:t>Observed: [What repeated across accounts.]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2A3A"/>
                </a:solidFill>
                <a:latin typeface="Calibri"/>
              </a:rPr>
              <a:t>So what: [Which HQ KPI it hits.]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B7A6E"/>
                </a:solidFill>
                <a:latin typeface="Calibri"/>
              </a:rPr>
              <a:t>Implication: [What we will do differently.]</a:t>
            </a:r>
          </a:p>
        </p:txBody>
      </p:sp>
      <p:sp>
        <p:nvSpPr>
          <p:cNvPr id="9" name="sig_bg_2"/>
          <p:cNvSpPr/>
          <p:nvPr/>
        </p:nvSpPr>
        <p:spPr>
          <a:xfrm>
            <a:off x="4343400" y="1353312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nal_2"/>
          <p:cNvSpPr txBox="1"/>
          <p:nvPr/>
        </p:nvSpPr>
        <p:spPr>
          <a:xfrm>
            <a:off x="4471416" y="1444752"/>
            <a:ext cx="32461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2744"/>
                </a:solidFill>
                <a:latin typeface="Calibri"/>
              </a:rPr>
              <a:t>[Pattern 2]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2A3A"/>
                </a:solidFill>
                <a:latin typeface="Calibri"/>
              </a:rPr>
              <a:t>Observed: […]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2A3A"/>
                </a:solidFill>
                <a:latin typeface="Calibri"/>
              </a:rPr>
              <a:t>So what: […]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B7A6E"/>
                </a:solidFill>
                <a:latin typeface="Calibri"/>
              </a:rPr>
              <a:t>Implication: […]</a:t>
            </a:r>
          </a:p>
        </p:txBody>
      </p:sp>
      <p:sp>
        <p:nvSpPr>
          <p:cNvPr id="11" name="sig_bg_3"/>
          <p:cNvSpPr/>
          <p:nvPr/>
        </p:nvSpPr>
        <p:spPr>
          <a:xfrm>
            <a:off x="8275320" y="1353312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ignal_3"/>
          <p:cNvSpPr txBox="1"/>
          <p:nvPr/>
        </p:nvSpPr>
        <p:spPr>
          <a:xfrm>
            <a:off x="8403336" y="1444752"/>
            <a:ext cx="32461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E2744"/>
                </a:solidFill>
                <a:latin typeface="Calibri"/>
              </a:rPr>
              <a:t>[Pattern 3 or delete card]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2A3A"/>
                </a:solidFill>
                <a:latin typeface="Calibri"/>
              </a:rPr>
              <a:t>Observed: […]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2A3A"/>
                </a:solidFill>
                <a:latin typeface="Calibri"/>
              </a:rPr>
              <a:t>So what: […]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B7A6E"/>
                </a:solidFill>
                <a:latin typeface="Calibri"/>
              </a:rPr>
              <a:t>Implication: […]</a:t>
            </a:r>
          </a:p>
        </p:txBody>
      </p:sp>
      <p:sp>
        <p:nvSpPr>
          <p:cNvPr id="13" name="footer_rule"/>
          <p:cNvSpPr/>
          <p:nvPr/>
        </p:nvSpPr>
        <p:spPr>
          <a:xfrm>
            <a:off x="411480" y="6446520"/>
            <a:ext cx="11365992" cy="18288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ooter"/>
          <p:cNvSpPr txBox="1"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Patterns only - no named HCPs, patient stories, unpublished dossier data  |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left"/>
          <p:cNvSpPr txBox="1"/>
          <p:nvPr/>
        </p:nvSpPr>
        <p:spPr>
          <a:xfrm>
            <a:off x="411480" y="128016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E2744"/>
                </a:solidFill>
                <a:latin typeface="Calibri"/>
              </a:rPr>
              <a:t>[Product] | [Market] | PM field pack</a:t>
            </a:r>
          </a:p>
        </p:txBody>
      </p:sp>
      <p:sp>
        <p:nvSpPr>
          <p:cNvPr id="4" name="hdr_right"/>
          <p:cNvSpPr txBox="1"/>
          <p:nvPr/>
        </p:nvSpPr>
        <p:spPr>
          <a:xfrm>
            <a:off x="6583680" y="12801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Biweekly | [DD Mon - DD Mon YYYY] | [Low/Mid/High] | Internal | De-identified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411480" y="42062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B7A6E"/>
                </a:solidFill>
                <a:latin typeface="Calibri"/>
              </a:rPr>
              <a:t>CONVERSION, NOT COVERAGE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658368"/>
            <a:ext cx="11338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0E2744"/>
                </a:solidFill>
                <a:latin typeface="Calibri"/>
              </a:rPr>
              <a:t>Where field time dies</a:t>
            </a:r>
          </a:p>
        </p:txBody>
      </p:sp>
      <p:sp>
        <p:nvSpPr>
          <p:cNvPr id="7" name="funnel_bg"/>
          <p:cNvSpPr/>
          <p:nvPr/>
        </p:nvSpPr>
        <p:spPr>
          <a:xfrm>
            <a:off x="411480" y="1353312"/>
            <a:ext cx="5394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unnel_title"/>
          <p:cNvSpPr txBox="1"/>
          <p:nvPr/>
        </p:nvSpPr>
        <p:spPr>
          <a:xfrm>
            <a:off x="557784" y="1444752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ACCOUNT MOTION (QUALITATIVE)</a:t>
            </a:r>
          </a:p>
        </p:txBody>
      </p:sp>
      <p:sp>
        <p:nvSpPr>
          <p:cNvPr id="9" name="funnel_bar_1"/>
          <p:cNvSpPr/>
          <p:nvPr/>
        </p:nvSpPr>
        <p:spPr>
          <a:xfrm>
            <a:off x="640080" y="1874519"/>
            <a:ext cx="4572000" cy="621792"/>
          </a:xfrm>
          <a:prstGeom prst="roundRect">
            <a:avLst/>
          </a:prstGeom>
          <a:solidFill>
            <a:srgbClr val="0E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unnel_txt_1"/>
          <p:cNvSpPr txBox="1"/>
          <p:nvPr/>
        </p:nvSpPr>
        <p:spPr>
          <a:xfrm>
            <a:off x="713232" y="1984247"/>
            <a:ext cx="44256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FFCF7"/>
                </a:solidFill>
                <a:latin typeface="Calibri"/>
              </a:rPr>
              <a:t>Awareness - [status]</a:t>
            </a:r>
          </a:p>
        </p:txBody>
      </p:sp>
      <p:sp>
        <p:nvSpPr>
          <p:cNvPr id="11" name="funnel_bar_2"/>
          <p:cNvSpPr/>
          <p:nvPr/>
        </p:nvSpPr>
        <p:spPr>
          <a:xfrm>
            <a:off x="1005840" y="2697480"/>
            <a:ext cx="3840480" cy="621792"/>
          </a:xfrm>
          <a:prstGeom prst="roundRect">
            <a:avLst/>
          </a:prstGeom>
          <a:solidFill>
            <a:srgbClr val="0E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unnel_txt_2"/>
          <p:cNvSpPr txBox="1"/>
          <p:nvPr/>
        </p:nvSpPr>
        <p:spPr>
          <a:xfrm>
            <a:off x="1078992" y="2807208"/>
            <a:ext cx="36941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FFCF7"/>
                </a:solidFill>
                <a:latin typeface="Calibri"/>
              </a:rPr>
              <a:t>Intent - [status]</a:t>
            </a:r>
          </a:p>
        </p:txBody>
      </p:sp>
      <p:sp>
        <p:nvSpPr>
          <p:cNvPr id="13" name="funnel_bar_3"/>
          <p:cNvSpPr/>
          <p:nvPr/>
        </p:nvSpPr>
        <p:spPr>
          <a:xfrm>
            <a:off x="1371600" y="3520440"/>
            <a:ext cx="3108960" cy="621792"/>
          </a:xfrm>
          <a:prstGeom prst="roundRect">
            <a:avLst/>
          </a:prstGeom>
          <a:solidFill>
            <a:srgbClr val="0E2744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unnel_txt_3"/>
          <p:cNvSpPr txBox="1"/>
          <p:nvPr/>
        </p:nvSpPr>
        <p:spPr>
          <a:xfrm>
            <a:off x="1444752" y="3630168"/>
            <a:ext cx="2962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FFCF7"/>
                </a:solidFill>
                <a:latin typeface="Calibri"/>
              </a:rPr>
              <a:t>Initiation - [STALL?]</a:t>
            </a:r>
          </a:p>
        </p:txBody>
      </p:sp>
      <p:sp>
        <p:nvSpPr>
          <p:cNvPr id="15" name="funnel_bar_4"/>
          <p:cNvSpPr/>
          <p:nvPr/>
        </p:nvSpPr>
        <p:spPr>
          <a:xfrm>
            <a:off x="1828800" y="4343400"/>
            <a:ext cx="2468880" cy="621792"/>
          </a:xfrm>
          <a:prstGeom prst="roundRect">
            <a:avLst/>
          </a:prstGeom>
          <a:solidFill>
            <a:srgbClr val="0E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unnel_txt_4"/>
          <p:cNvSpPr txBox="1"/>
          <p:nvPr/>
        </p:nvSpPr>
        <p:spPr>
          <a:xfrm>
            <a:off x="1901952" y="4453128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FFCF7"/>
                </a:solidFill>
                <a:latin typeface="Calibri"/>
              </a:rPr>
              <a:t>Persistency - [status]</a:t>
            </a:r>
          </a:p>
        </p:txBody>
      </p:sp>
      <p:sp>
        <p:nvSpPr>
          <p:cNvPr id="17" name="funnel_note"/>
          <p:cNvSpPr txBox="1"/>
          <p:nvPr/>
        </p:nvSpPr>
        <p:spPr>
          <a:xfrm>
            <a:off x="557784" y="507492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B6B7C"/>
                </a:solidFill>
                <a:latin typeface="Calibri"/>
              </a:rPr>
              <a:t>Widths are illustrative. Replace with your qualitative read - do not invent counts.</a:t>
            </a:r>
          </a:p>
        </p:txBody>
      </p:sp>
      <p:sp>
        <p:nvSpPr>
          <p:cNvPr id="18" name="barrier_bg"/>
          <p:cNvSpPr/>
          <p:nvPr/>
        </p:nvSpPr>
        <p:spPr>
          <a:xfrm>
            <a:off x="6126480" y="1353312"/>
            <a:ext cx="56509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riers"/>
          <p:cNvSpPr txBox="1"/>
          <p:nvPr/>
        </p:nvSpPr>
        <p:spPr>
          <a:xfrm>
            <a:off x="6272784" y="1444752"/>
            <a:ext cx="53492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RANKED BARRIERS (MAX 4)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C2A3A"/>
                </a:solidFill>
                <a:latin typeface="Calibri"/>
              </a:rPr>
              <a:t>1  [Barrier]  -&gt; [Uptake / Formulary / Compliance]  | [New / Unchanged / Rising]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C2A3A"/>
                </a:solidFill>
                <a:latin typeface="Calibri"/>
              </a:rPr>
              <a:t>2  [Barrier]  -&gt; […]  | […]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C2A3A"/>
                </a:solidFill>
                <a:latin typeface="Calibri"/>
              </a:rPr>
              <a:t>3  [Barrier]  -&gt; […]  | […]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C2A3A"/>
                </a:solidFill>
                <a:latin typeface="Calibri"/>
              </a:rPr>
              <a:t>4  [Delete if unused]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0E2744"/>
                </a:solidFill>
                <a:latin typeface="Calibri"/>
              </a:rPr>
              <a:t>Moved this cycle: [what changed]. Next two weeks: [concrete action].</a:t>
            </a:r>
          </a:p>
        </p:txBody>
      </p:sp>
      <p:sp>
        <p:nvSpPr>
          <p:cNvPr id="20" name="footer_rule"/>
          <p:cNvSpPr/>
          <p:nvPr/>
        </p:nvSpPr>
        <p:spPr>
          <a:xfrm>
            <a:off x="411480" y="6446520"/>
            <a:ext cx="11365992" cy="18288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ooter"/>
          <p:cNvSpPr txBox="1"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Patterns only - no named HCPs, patient stories, unpublished dossier data  |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left"/>
          <p:cNvSpPr txBox="1"/>
          <p:nvPr/>
        </p:nvSpPr>
        <p:spPr>
          <a:xfrm>
            <a:off x="411480" y="128016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E2744"/>
                </a:solidFill>
                <a:latin typeface="Calibri"/>
              </a:rPr>
              <a:t>[Product] | [Market] | PM field pack</a:t>
            </a:r>
          </a:p>
        </p:txBody>
      </p:sp>
      <p:sp>
        <p:nvSpPr>
          <p:cNvPr id="4" name="hdr_right"/>
          <p:cNvSpPr txBox="1"/>
          <p:nvPr/>
        </p:nvSpPr>
        <p:spPr>
          <a:xfrm>
            <a:off x="6583680" y="12801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Biweekly | [DD Mon - DD Mon YYYY] | [Low/Mid/High] | Internal | De-identified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411480" y="42062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B7A6E"/>
                </a:solidFill>
                <a:latin typeface="Calibri"/>
              </a:rPr>
              <a:t>DECISION PAGE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658368"/>
            <a:ext cx="11338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0E2744"/>
                </a:solidFill>
                <a:latin typeface="Calibri"/>
              </a:rPr>
              <a:t>Options, risks, and the HQ ask</a:t>
            </a:r>
          </a:p>
        </p:txBody>
      </p:sp>
      <p:sp>
        <p:nvSpPr>
          <p:cNvPr id="7" name="opt_bg_1"/>
          <p:cNvSpPr/>
          <p:nvPr/>
        </p:nvSpPr>
        <p:spPr>
          <a:xfrm>
            <a:off x="411480" y="1298448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ion_1"/>
          <p:cNvSpPr txBox="1"/>
          <p:nvPr/>
        </p:nvSpPr>
        <p:spPr>
          <a:xfrm>
            <a:off x="539496" y="1371600"/>
            <a:ext cx="32461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B7A6E"/>
                </a:solidFill>
                <a:latin typeface="Calibri"/>
              </a:rPr>
              <a:t>OPTION A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E2744"/>
                </a:solidFill>
                <a:latin typeface="Calibri"/>
              </a:rPr>
              <a:t>[Option A title]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2A3A"/>
                </a:solidFill>
                <a:latin typeface="Calibri"/>
              </a:rPr>
              <a:t>[Cost of this path.]</a:t>
            </a:r>
          </a:p>
        </p:txBody>
      </p:sp>
      <p:sp>
        <p:nvSpPr>
          <p:cNvPr id="9" name="opt_bg_2"/>
          <p:cNvSpPr/>
          <p:nvPr/>
        </p:nvSpPr>
        <p:spPr>
          <a:xfrm>
            <a:off x="4343400" y="1298448"/>
            <a:ext cx="3520440" cy="1874519"/>
          </a:xfrm>
          <a:prstGeom prst="roundRect">
            <a:avLst/>
          </a:prstGeom>
          <a:solidFill>
            <a:srgbClr val="E4F3E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ption_2"/>
          <p:cNvSpPr txBox="1"/>
          <p:nvPr/>
        </p:nvSpPr>
        <p:spPr>
          <a:xfrm>
            <a:off x="4471416" y="1371600"/>
            <a:ext cx="32461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B7A6E"/>
                </a:solidFill>
                <a:latin typeface="Calibri"/>
              </a:rPr>
              <a:t>RECOMMENDED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E2744"/>
                </a:solidFill>
                <a:latin typeface="Calibri"/>
              </a:rPr>
              <a:t>[Option B title]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2A3A"/>
                </a:solidFill>
                <a:latin typeface="Calibri"/>
              </a:rPr>
              <a:t>[Why this is the recommendation.]</a:t>
            </a:r>
          </a:p>
        </p:txBody>
      </p:sp>
      <p:sp>
        <p:nvSpPr>
          <p:cNvPr id="11" name="opt_bg_3"/>
          <p:cNvSpPr/>
          <p:nvPr/>
        </p:nvSpPr>
        <p:spPr>
          <a:xfrm>
            <a:off x="8275320" y="1298448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ion_3"/>
          <p:cNvSpPr txBox="1"/>
          <p:nvPr/>
        </p:nvSpPr>
        <p:spPr>
          <a:xfrm>
            <a:off x="8403336" y="1371600"/>
            <a:ext cx="32461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B7A6E"/>
                </a:solidFill>
                <a:latin typeface="Calibri"/>
              </a:rPr>
              <a:t>OPTION C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E2744"/>
                </a:solidFill>
                <a:latin typeface="Calibri"/>
              </a:rPr>
              <a:t>[Option C title]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C2A3A"/>
                </a:solidFill>
                <a:latin typeface="Calibri"/>
              </a:rPr>
              <a:t>[Cost of this path.]</a:t>
            </a:r>
          </a:p>
        </p:txBody>
      </p:sp>
      <p:sp>
        <p:nvSpPr>
          <p:cNvPr id="13" name="premortem_bg"/>
          <p:cNvSpPr/>
          <p:nvPr/>
        </p:nvSpPr>
        <p:spPr>
          <a:xfrm>
            <a:off x="411480" y="3310128"/>
            <a:ext cx="5532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sk_bg"/>
          <p:cNvSpPr/>
          <p:nvPr/>
        </p:nvSpPr>
        <p:spPr>
          <a:xfrm>
            <a:off x="6245352" y="3310128"/>
            <a:ext cx="5532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mortem"/>
          <p:cNvSpPr txBox="1"/>
          <p:nvPr/>
        </p:nvSpPr>
        <p:spPr>
          <a:xfrm>
            <a:off x="539496" y="3383280"/>
            <a:ext cx="5257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PRE-MORTEM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2A3A"/>
                </a:solidFill>
                <a:latin typeface="Calibri"/>
              </a:rPr>
              <a:t>[Most likely reason this pack fails or the stall persists.]</a:t>
            </a:r>
          </a:p>
        </p:txBody>
      </p:sp>
      <p:sp>
        <p:nvSpPr>
          <p:cNvPr id="16" name="share_risk"/>
          <p:cNvSpPr txBox="1"/>
          <p:nvPr/>
        </p:nvSpPr>
        <p:spPr>
          <a:xfrm>
            <a:off x="6373368" y="3383280"/>
            <a:ext cx="5257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SHAREABLE-PACK RISK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C2A3A"/>
                </a:solidFill>
                <a:latin typeface="Calibri"/>
              </a:rPr>
              <a:t>[Compliance / privacy fail mode if raw field notes are forwarded.]</a:t>
            </a:r>
          </a:p>
        </p:txBody>
      </p:sp>
      <p:sp>
        <p:nvSpPr>
          <p:cNvPr id="17" name="actions_bg"/>
          <p:cNvSpPr/>
          <p:nvPr/>
        </p:nvSpPr>
        <p:spPr>
          <a:xfrm>
            <a:off x="411480" y="4617720"/>
            <a:ext cx="11365992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tions"/>
          <p:cNvSpPr txBox="1"/>
          <p:nvPr/>
        </p:nvSpPr>
        <p:spPr>
          <a:xfrm>
            <a:off x="539496" y="468172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5B6B7C"/>
                </a:solidFill>
                <a:latin typeface="Calibri"/>
              </a:rPr>
              <a:t>NEXT ACTIONS  |  role + date, not names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C2A3A"/>
                </a:solidFill>
                <a:latin typeface="Calibri"/>
              </a:rPr>
              <a:t>1  [Action]  |  [Role]  |  [Date]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C2A3A"/>
                </a:solidFill>
                <a:latin typeface="Calibri"/>
              </a:rPr>
              <a:t>2  [Action]  |  [Role]  |  [Date]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C2A3A"/>
                </a:solidFill>
                <a:latin typeface="Calibri"/>
              </a:rPr>
              <a:t>3  [Action]  |  [Role]  |  [Date]</a:t>
            </a:r>
          </a:p>
        </p:txBody>
      </p:sp>
      <p:sp>
        <p:nvSpPr>
          <p:cNvPr id="19" name="footer_rule"/>
          <p:cNvSpPr/>
          <p:nvPr/>
        </p:nvSpPr>
        <p:spPr>
          <a:xfrm>
            <a:off x="411480" y="6446520"/>
            <a:ext cx="11365992" cy="18288"/>
          </a:xfrm>
          <a:prstGeom prst="rect">
            <a:avLst/>
          </a:prstGeom>
          <a:solidFill>
            <a:srgbClr val="D8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ooter"/>
          <p:cNvSpPr txBox="1"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B7C"/>
                </a:solidFill>
                <a:latin typeface="Calibri"/>
              </a:rPr>
              <a:t>Patterns only - no named HCPs, patient stories, unpublished dossier data  |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